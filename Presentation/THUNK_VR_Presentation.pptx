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Cambria" panose="02040503050406030204" pitchFamily="18" charset="0"/>
      <p:regular r:id="rId15"/>
      <p:bold r:id="rId16"/>
      <p:italic r:id="rId17"/>
      <p:boldItalic r:id="rId18"/>
    </p:embeddedFont>
    <p:embeddedFont>
      <p:font typeface="Cinzel" panose="00000500000000000000" pitchFamily="50" charset="0"/>
      <p:regular r:id="rId19"/>
    </p:embeddedFont>
    <p:embeddedFont>
      <p:font typeface="Cinzel Decorative" panose="00000500000000000000" pitchFamily="50" charset="0"/>
      <p:regular r:id="rId20"/>
    </p:embeddedFont>
    <p:embeddedFont>
      <p:font typeface="Segoe UI Symbol" panose="020B0502040204020203" pitchFamily="34" charset="0"/>
      <p:regular r:id="rId2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129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MERLEAU — environ 20 s.</a:t>
            </a:r>
          </a:p>
          <a:p>
            <a:r>
              <a:t>Bonjour. Nous sommes Antonin, Jude, Dovin et moi, Merleau. On va vous présenter THUNK VR, notre jeu de tir à l'arc en réalité virtuelle pour le Meta Quest 3. Le nom vient du bruit d'une flèche qui se plante : « thunk ».</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MERLEAU — environ 15 s.</a:t>
            </a:r>
          </a:p>
          <a:p>
            <a:r>
              <a:t>On s'est partagé la présentation en quatre parties de deux minutes et demie : je commence par le concept, Jude présente ce qu'on a réalisé, Antonin la technique et les difficultés, et Dovin l'organisation de l'équipe et le bilan. Ensuite, cinq minutes de démo au casque, puis vos questions.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MERLEAU — environ 1 min.</a:t>
            </a:r>
          </a:p>
          <a:p>
            <a:r>
              <a:t>THUNK VR mélange trois genres. De la survie : on tient face à six vagues de monstres de plus en plus fortes, et chacune se termine par un boss. Du roguelike : entre les vagues, on achète des améliorations tirées au sort, qui se cumulent sans limite ; chaque partie est différente. Et du tower defense : pendant les vagues, on sort récolter des cristaux et on construit ses défenses au marteau, avec ses mains.</a:t>
            </a:r>
          </a:p>
          <a:p>
            <a:r>
              <a:t>Au cœur du jeu, le tir à l'arc est physique : on prend la flèche dans son dos, on l'encoche, on tend la corde. Un anneau de timing récompense le tir parfait, lâché dans le vert.</a:t>
            </a:r>
          </a:p>
          <a:p>
            <a:r>
              <a:t>Nos inspirations : Megabonk pour le mélange survie et roguelike, et Longbow, dans The Lab de Valve, pour la défense à l'arc en VR.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MERLEAU — environ 1 min.</a:t>
            </a:r>
          </a:p>
          <a:p>
            <a:r>
              <a:t>Une partie commence en haut de la tour. On choisit la difficulté sur des panneaux, et le ciel change : jour, coucher de soleil, nuit, lune de sang. Un coup de gong lance la vague : d'abord une accalmie, pour récolter et construire, puis la montée, où les ennemis sortent de la forêt de plus en plus vite. À la fin du chrono arrive le boss, avec un point faible qui bat comme un cœur.</a:t>
            </a:r>
          </a:p>
          <a:p>
            <a:r>
              <a:t>Entre les vagues : la boutique et les coffres ; on tire dans le gong pour repartir. À la vague 6, on descend affronter MK, un dragon, dans son antre. Après la victoire, on continue en mode infini, ou on inscrit son score au classement. Une partie complète dure environ 25 minutes.</a:t>
            </a:r>
          </a:p>
          <a:p>
            <a:r>
              <a:t>Je laisse la parole à Jude.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JUDE — environ 1 min 15.</a:t>
            </a:r>
          </a:p>
          <a:p>
            <a:r>
              <a:t>Le cours demandait une liste de fonctionnalités : elles sont toutes dans le jeu. Les interactions passent par des gestes naturels : prendre la flèche dans son dos, tendre la corde, lâcher. La flèche suit une vraie trajectoire, avec la gravité, et sa portée dépend de la tension et du timing.</a:t>
            </a:r>
          </a:p>
          <a:p>
            <a:r>
              <a:t>Il y a plusieurs arcs et des flèches spéciales, une boutique d'améliorations entre les vagues, des zones de score : la tête et le corps des ennemis, les points faibles des boss. Le score s'affiche en direct sur une montre au poignet.</a:t>
            </a:r>
          </a:p>
          <a:p>
            <a:r>
              <a:t>Enfin : quatre difficultés, un mode entraînement avec des cibles, des menus dans le décor, un clavier virtuel pour saisir son nom, le classement sauvegardé en JSON, et des sons en 3D.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JUDE — environ 1 min 15.</a:t>
            </a:r>
          </a:p>
          <a:p>
            <a:r>
              <a:t>On est aussi allés plus loin. Le tower defense : douze socles où construire barricades, pièges, tours de givre et balistes, en frappant un plan au marteau.</a:t>
            </a:r>
          </a:p>
          <a:p>
            <a:r>
              <a:t>Ma partie, c'est le menu des armes au début de la partie : les arcs sont devenus des classes, chacune avec ses caractéristiques, débloquées par des succès. J'ai ajouté le système de succès et les arcs court, puissant et runique.</a:t>
            </a:r>
          </a:p>
          <a:p>
            <a:r>
              <a:t>Dovin a fait la grenade à flèches : on la sort de sa poche, on la lance, et elle éclate en 28 flèches. Et deux secrets sont cachés sur la carte : le portail des étoiles et le toit cyberpunk, chacun avec une arme cachée. Il y a aussi cinq boss et le dragon final, la course en balançant les bras, et un mode infini.</a:t>
            </a:r>
          </a:p>
          <a:p>
            <a:r>
              <a:t>Antonin va vous expliquer comment tout ça est construit.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ANTONIN — environ 1 min 15.</a:t>
            </a:r>
          </a:p>
          <a:p>
            <a:r>
              <a:t>Le jeu tourne sous Unity 6, avec le pipeline URP, le XR Interaction Toolkit et OpenXR, sur un Meta Quest 3 relié au PC par Link.</a:t>
            </a:r>
          </a:p>
          <a:p>
            <a:r>
              <a:t>Quelques choix nous ont fait gagner du temps. Tous les réglages (arcs, ennemis, vagues, boutique) sont des ScriptableObjects : on équilibre sans toucher au code. Les flèches, les ennemis et les effets passent par des pools d'objets, pour garder 72 images par seconde. Les ennemis au sol suivent les voies grâce au NavMesh. Et un mode clavier-souris permet de tester sans mettre le casque.</a:t>
            </a:r>
          </a:p>
          <a:p>
            <a:r>
              <a:t>Côté outils, on a utilisé l'IA, Claude Code, pour deux choses : générer des scripts, et écrire des guides pas à pas pour monter chaque fonctionnalité dans Unity.</a:t>
            </a:r>
          </a:p>
          <a:p>
            <a:r>
              <a:t>Au total : environ 215 scripts, 64 000 lignes de C# et 23 shaders faits pour le jeu.</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ANTONIN — environ 1 min 15.</a:t>
            </a:r>
          </a:p>
          <a:p>
            <a:r>
              <a:t>Plusieurs choses nous ont résisté. D'abord le confort : se déplacer en VR donne vite mal au cœur. On court en balançant les bras, avec une rotation par crans et une vignette de confort.</a:t>
            </a:r>
          </a:p>
          <a:p>
            <a:r>
              <a:t>Ensuite les performances, avec des dizaines d'ennemis à l'écran : il faut tenir 72 images par seconde.</a:t>
            </a:r>
          </a:p>
          <a:p>
            <a:r>
              <a:t>Le 13 octobre, mon PC est tombé en panne : tout ce qui n'était pas poussé sur GitHub était perdu, dont le boss final, qu'il a fallu refaire. Depuis, on pousse souvent.</a:t>
            </a:r>
          </a:p>
          <a:p>
            <a:r>
              <a:t>Le casque se figeait aussi en pleine partie : c'était un bug du pilote NVIDIA, réglé en revenant à une version plus ancienne.</a:t>
            </a:r>
          </a:p>
          <a:p>
            <a:r>
              <a:t>Enfin, un geste en VR doit marcher vraiment dans la main : le katana a été refait trois fois.</a:t>
            </a:r>
          </a:p>
          <a:p>
            <a:r>
              <a:t>Dovin va vous parler de l'équipe.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DOVIN — environ 45 s.</a:t>
            </a:r>
          </a:p>
          <a:p>
            <a:r>
              <a:t>Voici qui a fait quoi. Antonin est le lead developer : le GDD, le code du jeu, le montage des scènes, et l'intégration de nos branches.</a:t>
            </a:r>
          </a:p>
          <a:p>
            <a:r>
              <a:t>Jude, Merleau et moi avons participé au scope de départ. Ensuite, Jude a fait les classes d'arcs et les succès. Moi, la grenade à flèches : ses scripts, son prefab, sa ceinture et son affichage sur la montre ; et j'ai testé le jeu. Merleau s'est occupé des tests.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DOVIN — environ 1 min.</a:t>
            </a:r>
          </a:p>
          <a:p>
            <a:r>
              <a:t>Pour travailler ensemble, on a un dépôt GitHub. La branche main reste toujours jouable, et chaque fonctionnalité a sa branche : le tower defense est passé par une pull request, les classes de Jude par la branche classes-arc, et ma grenade par un fork, fusionné le 22 octobre.</a:t>
            </a:r>
          </a:p>
          <a:p>
            <a:r>
              <a:t>Le GDD sert de référence commune : on le met à jour et on date chaque décision.</a:t>
            </a:r>
          </a:p>
          <a:p>
            <a:r>
              <a:t>Pour les tests : au casque après chaque ajout, et à la Nuit des assos, avec de vrais joueurs. Leurs retours ont changé l'équilibrage : les vagues 3 à 5 étaient trop faciles, le mode Facile pas assez doux, et le dragon trop faible.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DOVIN — environ 45 s.</a:t>
            </a:r>
          </a:p>
          <a:p>
            <a:r>
              <a:t>En bilan : toutes les consignes du cours sont dans le jeu, avec six vagues, cinq boss et un dragon, huit armes et deux secrets.</a:t>
            </a:r>
          </a:p>
          <a:p>
            <a:r>
              <a:t>On retient trois choses : en VR, rien n'est fini tant qu'on ne l'a pas essayé au casque ; des joueurs extérieurs voient ce qu'on ne voit plus ; et il faut pousser son travail souvent.</a:t>
            </a:r>
          </a:p>
          <a:p>
            <a:r>
              <a:t>Pour la suite : une version autonome sur le Quest, sans PC ; une nouvelle arène pour MK et une histoire cachée, révélée d'easter egg en easter egg ; et de vraies musiques.</a:t>
            </a:r>
          </a:p>
          <a:p>
            <a:r>
              <a:t>Place à la démo.</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DÉMO — 5 min. Celui qui joue commente lentement ; un autre tape les raccourcis au clavier (liste dans Docs/Demo_Vendredi.md, partie 4).</a:t>
            </a:r>
          </a:p>
          <a:p>
            <a:r>
              <a:t>Ordre : un tir parfait aux cibles d'entraînement ; le gong, une vague (récolter, construire une baliste au marteau) ; le boss et son point faible ; puis MK (F, puis N pour avancer).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png"/><Relationship Id="rId7"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7.png"/><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ond" descr="img001.png"/>
          <p:cNvPicPr>
            <a:picLocks noChangeAspect="1"/>
          </p:cNvPicPr>
          <p:nvPr/>
        </p:nvPicPr>
        <p:blipFill>
          <a:blip r:embed="rId3"/>
          <a:stretch>
            <a:fillRect/>
          </a:stretch>
        </p:blipFill>
        <p:spPr>
          <a:xfrm>
            <a:off x="0" y="0"/>
            <a:ext cx="12191695" cy="6858000"/>
          </a:xfrm>
          <a:prstGeom prst="rect">
            <a:avLst/>
          </a:prstGeom>
        </p:spPr>
      </p:pic>
      <p:sp>
        <p:nvSpPr>
          <p:cNvPr id="3" name="Accroche"/>
          <p:cNvSpPr txBox="1"/>
          <p:nvPr/>
        </p:nvSpPr>
        <p:spPr>
          <a:xfrm>
            <a:off x="777240" y="1828800"/>
            <a:ext cx="8229600" cy="365760"/>
          </a:xfrm>
          <a:prstGeom prst="rect">
            <a:avLst/>
          </a:prstGeom>
          <a:noFill/>
        </p:spPr>
        <p:txBody>
          <a:bodyPr wrap="square" lIns="0" tIns="0" rIns="0" bIns="0" anchor="t">
            <a:noAutofit/>
          </a:bodyPr>
          <a:lstStyle/>
          <a:p>
            <a:pPr algn="l"/>
            <a:r>
              <a:rPr sz="1400" b="0" i="0" spc="300">
                <a:solidFill>
                  <a:srgbClr val="FFCC61"/>
                </a:solidFill>
                <a:latin typeface="Cinzel"/>
              </a:rPr>
              <a:t>UN JEU DE TIR À L'ARC EN RÉALITÉ VIRTUELLE</a:t>
            </a:r>
          </a:p>
        </p:txBody>
      </p:sp>
      <p:sp>
        <p:nvSpPr>
          <p:cNvPr id="4" name="Nom du jeu"/>
          <p:cNvSpPr txBox="1"/>
          <p:nvPr/>
        </p:nvSpPr>
        <p:spPr>
          <a:xfrm>
            <a:off x="731520" y="2194560"/>
            <a:ext cx="9144000" cy="1371600"/>
          </a:xfrm>
          <a:prstGeom prst="rect">
            <a:avLst/>
          </a:prstGeom>
          <a:noFill/>
        </p:spPr>
        <p:txBody>
          <a:bodyPr wrap="square" lIns="0" tIns="0" rIns="0" bIns="0" anchor="ctr">
            <a:noAutofit/>
          </a:bodyPr>
          <a:lstStyle/>
          <a:p>
            <a:pPr algn="l"/>
            <a:r>
              <a:rPr sz="8800" b="0"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inzel Decorative"/>
              </a:rPr>
              <a:t>THUNK VR</a:t>
            </a:r>
          </a:p>
        </p:txBody>
      </p:sp>
      <p:sp>
        <p:nvSpPr>
          <p:cNvPr id="5" name="Sous-titre"/>
          <p:cNvSpPr txBox="1"/>
          <p:nvPr/>
        </p:nvSpPr>
        <p:spPr>
          <a:xfrm>
            <a:off x="777240" y="3611880"/>
            <a:ext cx="8229600" cy="457200"/>
          </a:xfrm>
          <a:prstGeom prst="rect">
            <a:avLst/>
          </a:prstGeom>
          <a:noFill/>
        </p:spPr>
        <p:txBody>
          <a:bodyPr wrap="square" lIns="0" tIns="0" rIns="0" bIns="0" anchor="t">
            <a:noAutofit/>
          </a:bodyPr>
          <a:lstStyle/>
          <a:p>
            <a:pPr algn="l"/>
            <a:r>
              <a:rPr sz="2200" b="0" i="0">
                <a:solidFill>
                  <a:srgbClr val="F5EDDB"/>
                </a:solidFill>
                <a:latin typeface="Calibri"/>
              </a:rPr>
              <a:t>Survie, roguelike et tower defense, sur Meta Quest 3</a:t>
            </a:r>
          </a:p>
        </p:txBody>
      </p:sp>
      <p:sp>
        <p:nvSpPr>
          <p:cNvPr id="6" name="Équipe"/>
          <p:cNvSpPr txBox="1"/>
          <p:nvPr/>
        </p:nvSpPr>
        <p:spPr>
          <a:xfrm>
            <a:off x="777240" y="5257800"/>
            <a:ext cx="10515600" cy="365760"/>
          </a:xfrm>
          <a:prstGeom prst="rect">
            <a:avLst/>
          </a:prstGeom>
          <a:noFill/>
        </p:spPr>
        <p:txBody>
          <a:bodyPr wrap="square" lIns="0" tIns="0" rIns="0" bIns="0" anchor="t">
            <a:noAutofit/>
          </a:bodyPr>
          <a:lstStyle/>
          <a:p>
            <a:pPr algn="l"/>
            <a:r>
              <a:rPr sz="1600" b="1" i="0">
                <a:solidFill>
                  <a:srgbClr val="FFBD40"/>
                </a:solidFill>
                <a:latin typeface="Calibri"/>
              </a:rPr>
              <a:t>Antonin Croquette</a:t>
            </a:r>
            <a:r>
              <a:rPr sz="1600" b="0" i="0">
                <a:solidFill>
                  <a:srgbClr val="A79FC4"/>
                </a:solidFill>
                <a:latin typeface="Calibri"/>
              </a:rPr>
              <a:t>   ·   </a:t>
            </a:r>
            <a:r>
              <a:rPr sz="1600" b="1" i="0">
                <a:solidFill>
                  <a:srgbClr val="F259D9"/>
                </a:solidFill>
                <a:latin typeface="Calibri"/>
              </a:rPr>
              <a:t>Jude Aybalen</a:t>
            </a:r>
            <a:r>
              <a:rPr sz="1600" b="0" i="0">
                <a:solidFill>
                  <a:srgbClr val="A79FC4"/>
                </a:solidFill>
                <a:latin typeface="Calibri"/>
              </a:rPr>
              <a:t>   ·   </a:t>
            </a:r>
            <a:r>
              <a:rPr sz="1600" b="1" i="0">
                <a:solidFill>
                  <a:srgbClr val="66F28C"/>
                </a:solidFill>
                <a:latin typeface="Calibri"/>
              </a:rPr>
              <a:t>Tchoffo Manfouo Dovin Vilson</a:t>
            </a:r>
            <a:r>
              <a:rPr sz="1600" b="0" i="0">
                <a:solidFill>
                  <a:srgbClr val="A79FC4"/>
                </a:solidFill>
                <a:latin typeface="Calibri"/>
              </a:rPr>
              <a:t>   ·   </a:t>
            </a:r>
            <a:r>
              <a:rPr sz="1600" b="1" i="0">
                <a:solidFill>
                  <a:srgbClr val="4DD9FF"/>
                </a:solidFill>
                <a:latin typeface="Calibri"/>
              </a:rPr>
              <a:t>Merleau Gezo</a:t>
            </a:r>
          </a:p>
        </p:txBody>
      </p:sp>
      <p:sp>
        <p:nvSpPr>
          <p:cNvPr id="7" name="Cours"/>
          <p:cNvSpPr txBox="1"/>
          <p:nvPr/>
        </p:nvSpPr>
        <p:spPr>
          <a:xfrm>
            <a:off x="777240" y="5669280"/>
            <a:ext cx="10058400" cy="320040"/>
          </a:xfrm>
          <a:prstGeom prst="rect">
            <a:avLst/>
          </a:prstGeom>
          <a:noFill/>
        </p:spPr>
        <p:txBody>
          <a:bodyPr wrap="square" lIns="0" tIns="0" rIns="0" bIns="0" anchor="t">
            <a:noAutofit/>
          </a:bodyPr>
          <a:lstStyle/>
          <a:p>
            <a:pPr algn="l"/>
            <a:r>
              <a:rPr sz="1300" b="0" i="0">
                <a:solidFill>
                  <a:srgbClr val="A79FC4"/>
                </a:solidFill>
                <a:latin typeface="Calibri"/>
              </a:rPr>
              <a:t>ST2OOS · Unity XR · 23 octobre 2026</a:t>
            </a:r>
          </a:p>
        </p:txBody>
      </p:sp>
      <p:pic>
        <p:nvPicPr>
          <p:cNvPr id="8" name="Fond titre" descr="img002.png"/>
          <p:cNvPicPr>
            <a:picLocks noChangeAspect="1"/>
          </p:cNvPicPr>
          <p:nvPr/>
        </p:nvPicPr>
        <p:blipFill>
          <a:blip r:embed="rId4"/>
          <a:stretch>
            <a:fillRect/>
          </a:stretch>
        </p:blipFill>
        <p:spPr>
          <a:xfrm>
            <a:off x="8668512" y="1399032"/>
            <a:ext cx="3035808" cy="1763649"/>
          </a:xfrm>
          <a:prstGeom prst="rect">
            <a:avLst/>
          </a:prstGeom>
        </p:spPr>
      </p:pic>
      <p:sp>
        <p:nvSpPr>
          <p:cNvPr id="9" name="Attente titre"/>
          <p:cNvSpPr txBox="1"/>
          <p:nvPr/>
        </p:nvSpPr>
        <p:spPr>
          <a:xfrm>
            <a:off x="9006840" y="1463040"/>
            <a:ext cx="2359152" cy="1635633"/>
          </a:xfrm>
          <a:prstGeom prst="rect">
            <a:avLst/>
          </a:prstGeom>
          <a:noFill/>
        </p:spPr>
        <p:txBody>
          <a:bodyPr wrap="square" lIns="0" tIns="0" rIns="0" bIns="0" anchor="ctr">
            <a:noAutofit/>
          </a:bodyPr>
          <a:lstStyle/>
          <a:p>
            <a:pPr algn="ctr">
              <a:spcAft>
                <a:spcPts val="400"/>
              </a:spcAft>
            </a:pPr>
            <a:r>
              <a:rPr sz="1100" b="0" i="0" spc="120">
                <a:solidFill>
                  <a:srgbClr val="A79FC4"/>
                </a:solidFill>
                <a:latin typeface="Cinzel"/>
              </a:rPr>
              <a:t>CAPTURE À VENIR</a:t>
            </a:r>
          </a:p>
          <a:p>
            <a:pPr algn="ctr">
              <a:spcAft>
                <a:spcPts val="200"/>
              </a:spcAft>
            </a:pPr>
            <a:r>
              <a:rPr sz="1200" b="0" i="0">
                <a:solidFill>
                  <a:srgbClr val="D1DBFF"/>
                </a:solidFill>
                <a:latin typeface="Calibri"/>
              </a:rPr>
              <a:t>captures/titre.png</a:t>
            </a:r>
          </a:p>
          <a:p>
            <a:pPr algn="ctr"/>
            <a:r>
              <a:rPr sz="1200" b="0" i="0">
                <a:solidFill>
                  <a:srgbClr val="A79FC4"/>
                </a:solidFill>
                <a:latin typeface="Calibri"/>
              </a:rPr>
              <a:t>un plan large : la clairière et la tour, ou la porte de l'antre</a:t>
            </a:r>
          </a:p>
        </p:txBody>
      </p:sp>
      <p:pic>
        <p:nvPicPr>
          <p:cNvPr id="10" name="Cadre titre" descr="img003.png"/>
          <p:cNvPicPr>
            <a:picLocks noChangeAspect="1"/>
          </p:cNvPicPr>
          <p:nvPr/>
        </p:nvPicPr>
        <p:blipFill>
          <a:blip r:embed="rId5"/>
          <a:stretch>
            <a:fillRect/>
          </a:stretch>
        </p:blipFill>
        <p:spPr>
          <a:xfrm>
            <a:off x="8668512" y="1399032"/>
            <a:ext cx="3035808" cy="176364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ond" descr="img001.png"/>
          <p:cNvPicPr>
            <a:picLocks noChangeAspect="1"/>
          </p:cNvPicPr>
          <p:nvPr/>
        </p:nvPicPr>
        <p:blipFill>
          <a:blip r:embed="rId3"/>
          <a:stretch>
            <a:fillRect/>
          </a:stretch>
        </p:blipFill>
        <p:spPr>
          <a:xfrm>
            <a:off x="0" y="0"/>
            <a:ext cx="12191695" cy="6858000"/>
          </a:xfrm>
          <a:prstGeom prst="rect">
            <a:avLst/>
          </a:prstGeom>
        </p:spPr>
      </p:pic>
      <p:sp>
        <p:nvSpPr>
          <p:cNvPr id="3" name="Titre"/>
          <p:cNvSpPr txBox="1"/>
          <p:nvPr/>
        </p:nvSpPr>
        <p:spPr>
          <a:xfrm>
            <a:off x="548640" y="411480"/>
            <a:ext cx="9326880" cy="731520"/>
          </a:xfrm>
          <a:prstGeom prst="rect">
            <a:avLst/>
          </a:prstGeom>
          <a:noFill/>
        </p:spPr>
        <p:txBody>
          <a:bodyPr wrap="square" lIns="0" tIns="0" rIns="0" bIns="0" anchor="ctr">
            <a:noAutofit/>
          </a:bodyPr>
          <a:lstStyle/>
          <a:p>
            <a:pPr algn="l"/>
            <a:r>
              <a:rPr sz="3200" b="0"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inzel Decorative"/>
              </a:rPr>
              <a:t>Au programme</a:t>
            </a:r>
          </a:p>
        </p:txBody>
      </p:sp>
      <p:sp>
        <p:nvSpPr>
          <p:cNvPr id="4" name="Orateur"/>
          <p:cNvSpPr txBox="1"/>
          <p:nvPr/>
        </p:nvSpPr>
        <p:spPr>
          <a:xfrm>
            <a:off x="9509760" y="566928"/>
            <a:ext cx="2133295" cy="411480"/>
          </a:xfrm>
          <a:prstGeom prst="rect">
            <a:avLst/>
          </a:prstGeom>
          <a:noFill/>
        </p:spPr>
        <p:txBody>
          <a:bodyPr wrap="square" lIns="0" tIns="0" rIns="0" bIns="0" anchor="ctr">
            <a:noAutofit/>
          </a:bodyPr>
          <a:lstStyle/>
          <a:p>
            <a:pPr algn="r"/>
            <a:r>
              <a:rPr sz="1400" b="0" i="0" spc="250">
                <a:solidFill>
                  <a:srgbClr val="4DD9FF"/>
                </a:solidFill>
                <a:latin typeface="Cinzel"/>
              </a:rPr>
              <a:t>MERLEAU</a:t>
            </a:r>
          </a:p>
        </p:txBody>
      </p:sp>
      <p:sp>
        <p:nvSpPr>
          <p:cNvPr id="5" name="Pied"/>
          <p:cNvSpPr txBox="1"/>
          <p:nvPr/>
        </p:nvSpPr>
        <p:spPr>
          <a:xfrm>
            <a:off x="548640" y="6400800"/>
            <a:ext cx="2743200" cy="274320"/>
          </a:xfrm>
          <a:prstGeom prst="rect">
            <a:avLst/>
          </a:prstGeom>
          <a:noFill/>
        </p:spPr>
        <p:txBody>
          <a:bodyPr wrap="square" lIns="0" tIns="0" rIns="0" bIns="0" anchor="t">
            <a:noAutofit/>
          </a:bodyPr>
          <a:lstStyle/>
          <a:p>
            <a:pPr algn="l"/>
            <a:r>
              <a:rPr sz="1000" b="0" i="0" spc="200">
                <a:solidFill>
                  <a:srgbClr val="A79FC4"/>
                </a:solidFill>
                <a:latin typeface="Cinzel"/>
              </a:rPr>
              <a:t>THUNK VR</a:t>
            </a:r>
          </a:p>
        </p:txBody>
      </p:sp>
      <p:sp>
        <p:nvSpPr>
          <p:cNvPr id="6" name="Numéro"/>
          <p:cNvSpPr txBox="1"/>
          <p:nvPr/>
        </p:nvSpPr>
        <p:spPr>
          <a:xfrm>
            <a:off x="10271455" y="6400800"/>
            <a:ext cx="1371600" cy="274320"/>
          </a:xfrm>
          <a:prstGeom prst="rect">
            <a:avLst/>
          </a:prstGeom>
          <a:noFill/>
        </p:spPr>
        <p:txBody>
          <a:bodyPr wrap="square" lIns="0" tIns="0" rIns="0" bIns="0" anchor="t">
            <a:noAutofit/>
          </a:bodyPr>
          <a:lstStyle/>
          <a:p>
            <a:pPr algn="r"/>
            <a:r>
              <a:rPr sz="1100" b="0" i="0">
                <a:solidFill>
                  <a:srgbClr val="A79FC4"/>
                </a:solidFill>
                <a:latin typeface="Calibri"/>
              </a:rPr>
              <a:t>2 / 12</a:t>
            </a:r>
          </a:p>
        </p:txBody>
      </p:sp>
      <p:pic>
        <p:nvPicPr>
          <p:cNvPr id="7" name="Partie 1" descr="img004.png"/>
          <p:cNvPicPr>
            <a:picLocks noChangeAspect="1"/>
          </p:cNvPicPr>
          <p:nvPr/>
        </p:nvPicPr>
        <p:blipFill>
          <a:blip r:embed="rId4"/>
          <a:stretch>
            <a:fillRect/>
          </a:stretch>
        </p:blipFill>
        <p:spPr>
          <a:xfrm>
            <a:off x="548640" y="1508760"/>
            <a:ext cx="2567863" cy="3246120"/>
          </a:xfrm>
          <a:prstGeom prst="rect">
            <a:avLst/>
          </a:prstGeom>
        </p:spPr>
      </p:pic>
      <p:pic>
        <p:nvPicPr>
          <p:cNvPr id="8" name="Icône partie 1" descr="img005.png"/>
          <p:cNvPicPr>
            <a:picLocks noChangeAspect="1"/>
          </p:cNvPicPr>
          <p:nvPr/>
        </p:nvPicPr>
        <p:blipFill>
          <a:blip r:embed="rId5"/>
          <a:stretch>
            <a:fillRect/>
          </a:stretch>
        </p:blipFill>
        <p:spPr>
          <a:xfrm>
            <a:off x="896112" y="1892807"/>
            <a:ext cx="457200" cy="457200"/>
          </a:xfrm>
          <a:prstGeom prst="rect">
            <a:avLst/>
          </a:prstGeom>
        </p:spPr>
      </p:pic>
      <p:sp>
        <p:nvSpPr>
          <p:cNvPr id="9" name="Texte partie 1"/>
          <p:cNvSpPr txBox="1"/>
          <p:nvPr/>
        </p:nvSpPr>
        <p:spPr>
          <a:xfrm>
            <a:off x="868680" y="2560320"/>
            <a:ext cx="1927783" cy="1874519"/>
          </a:xfrm>
          <a:prstGeom prst="rect">
            <a:avLst/>
          </a:prstGeom>
          <a:noFill/>
        </p:spPr>
        <p:txBody>
          <a:bodyPr wrap="square" lIns="0" tIns="0" rIns="0" bIns="0" anchor="t">
            <a:noAutofit/>
          </a:bodyPr>
          <a:lstStyle/>
          <a:p>
            <a:pPr algn="l">
              <a:spcAft>
                <a:spcPts val="1000"/>
              </a:spcAft>
            </a:pPr>
            <a:r>
              <a:rPr sz="1200" b="0" i="0" spc="250">
                <a:solidFill>
                  <a:srgbClr val="4DD9FF"/>
                </a:solidFill>
                <a:latin typeface="Cinzel"/>
              </a:rPr>
              <a:t>MERLEAU</a:t>
            </a:r>
          </a:p>
          <a:p>
            <a:pPr algn="l">
              <a:spcAft>
                <a:spcPts val="600"/>
              </a:spcAft>
            </a:pPr>
            <a:r>
              <a:rPr sz="2000" b="1" i="0">
                <a:solidFill>
                  <a:srgbClr val="F5EDDB"/>
                </a:solidFill>
                <a:latin typeface="Calibri"/>
              </a:rPr>
              <a:t>Le concept</a:t>
            </a:r>
          </a:p>
          <a:p>
            <a:pPr algn="l"/>
            <a:r>
              <a:rPr sz="1500" b="0" i="0">
                <a:solidFill>
                  <a:srgbClr val="D1DBFF"/>
                </a:solidFill>
                <a:latin typeface="Calibri"/>
              </a:rPr>
              <a:t>Le jeu, ses trois genres, le déroulement d'une partie</a:t>
            </a:r>
          </a:p>
        </p:txBody>
      </p:sp>
      <p:sp>
        <p:nvSpPr>
          <p:cNvPr id="10" name="Durée partie 1"/>
          <p:cNvSpPr txBox="1"/>
          <p:nvPr/>
        </p:nvSpPr>
        <p:spPr>
          <a:xfrm>
            <a:off x="868680" y="4160519"/>
            <a:ext cx="1927783" cy="320040"/>
          </a:xfrm>
          <a:prstGeom prst="rect">
            <a:avLst/>
          </a:prstGeom>
          <a:noFill/>
        </p:spPr>
        <p:txBody>
          <a:bodyPr wrap="square" lIns="0" tIns="0" rIns="0" bIns="0" anchor="t">
            <a:noAutofit/>
          </a:bodyPr>
          <a:lstStyle/>
          <a:p>
            <a:pPr algn="l"/>
            <a:r>
              <a:rPr sz="1100" b="0" i="0" spc="120">
                <a:solidFill>
                  <a:srgbClr val="A79FC4"/>
                </a:solidFill>
                <a:latin typeface="Cinzel"/>
              </a:rPr>
              <a:t>2 MIN 30</a:t>
            </a:r>
          </a:p>
        </p:txBody>
      </p:sp>
      <p:pic>
        <p:nvPicPr>
          <p:cNvPr id="11" name="Partie 2" descr="img004.png"/>
          <p:cNvPicPr>
            <a:picLocks noChangeAspect="1"/>
          </p:cNvPicPr>
          <p:nvPr/>
        </p:nvPicPr>
        <p:blipFill>
          <a:blip r:embed="rId4"/>
          <a:stretch>
            <a:fillRect/>
          </a:stretch>
        </p:blipFill>
        <p:spPr>
          <a:xfrm>
            <a:off x="3390823" y="1508760"/>
            <a:ext cx="2567863" cy="3246120"/>
          </a:xfrm>
          <a:prstGeom prst="rect">
            <a:avLst/>
          </a:prstGeom>
        </p:spPr>
      </p:pic>
      <p:pic>
        <p:nvPicPr>
          <p:cNvPr id="12" name="Icône partie 2" descr="img007.png"/>
          <p:cNvPicPr>
            <a:picLocks noChangeAspect="1"/>
          </p:cNvPicPr>
          <p:nvPr/>
        </p:nvPicPr>
        <p:blipFill>
          <a:blip r:embed="rId6"/>
          <a:stretch>
            <a:fillRect/>
          </a:stretch>
        </p:blipFill>
        <p:spPr>
          <a:xfrm>
            <a:off x="3738295" y="1892807"/>
            <a:ext cx="457200" cy="457200"/>
          </a:xfrm>
          <a:prstGeom prst="rect">
            <a:avLst/>
          </a:prstGeom>
        </p:spPr>
      </p:pic>
      <p:sp>
        <p:nvSpPr>
          <p:cNvPr id="13" name="Texte partie 2"/>
          <p:cNvSpPr txBox="1"/>
          <p:nvPr/>
        </p:nvSpPr>
        <p:spPr>
          <a:xfrm>
            <a:off x="3710863" y="2560320"/>
            <a:ext cx="1927783" cy="1874519"/>
          </a:xfrm>
          <a:prstGeom prst="rect">
            <a:avLst/>
          </a:prstGeom>
          <a:noFill/>
        </p:spPr>
        <p:txBody>
          <a:bodyPr wrap="square" lIns="0" tIns="0" rIns="0" bIns="0" anchor="t">
            <a:noAutofit/>
          </a:bodyPr>
          <a:lstStyle/>
          <a:p>
            <a:pPr algn="l">
              <a:spcAft>
                <a:spcPts val="1000"/>
              </a:spcAft>
            </a:pPr>
            <a:r>
              <a:rPr sz="1200" b="0" i="0" spc="250">
                <a:solidFill>
                  <a:srgbClr val="F259D9"/>
                </a:solidFill>
                <a:latin typeface="Cinzel"/>
              </a:rPr>
              <a:t>JUDE</a:t>
            </a:r>
          </a:p>
          <a:p>
            <a:pPr algn="l">
              <a:spcAft>
                <a:spcPts val="600"/>
              </a:spcAft>
            </a:pPr>
            <a:r>
              <a:rPr sz="2000" b="1" i="0">
                <a:solidFill>
                  <a:srgbClr val="F5EDDB"/>
                </a:solidFill>
                <a:latin typeface="Calibri"/>
              </a:rPr>
              <a:t>Ce qu'on a réalisé</a:t>
            </a:r>
          </a:p>
          <a:p>
            <a:pPr algn="l"/>
            <a:r>
              <a:rPr sz="1500" b="0" i="0">
                <a:solidFill>
                  <a:srgbClr val="D1DBFF"/>
                </a:solidFill>
                <a:latin typeface="Calibri"/>
              </a:rPr>
              <a:t>Les consignes du cours, et tout ce qu'on a ajouté</a:t>
            </a:r>
          </a:p>
        </p:txBody>
      </p:sp>
      <p:sp>
        <p:nvSpPr>
          <p:cNvPr id="14" name="Durée partie 2"/>
          <p:cNvSpPr txBox="1"/>
          <p:nvPr/>
        </p:nvSpPr>
        <p:spPr>
          <a:xfrm>
            <a:off x="3710863" y="4160519"/>
            <a:ext cx="1927783" cy="320040"/>
          </a:xfrm>
          <a:prstGeom prst="rect">
            <a:avLst/>
          </a:prstGeom>
          <a:noFill/>
        </p:spPr>
        <p:txBody>
          <a:bodyPr wrap="square" lIns="0" tIns="0" rIns="0" bIns="0" anchor="t">
            <a:noAutofit/>
          </a:bodyPr>
          <a:lstStyle/>
          <a:p>
            <a:pPr algn="l"/>
            <a:r>
              <a:rPr sz="1100" b="0" i="0" spc="120">
                <a:solidFill>
                  <a:srgbClr val="A79FC4"/>
                </a:solidFill>
                <a:latin typeface="Cinzel"/>
              </a:rPr>
              <a:t>2 MIN 30</a:t>
            </a:r>
          </a:p>
        </p:txBody>
      </p:sp>
      <p:pic>
        <p:nvPicPr>
          <p:cNvPr id="15" name="Partie 3" descr="img004.png"/>
          <p:cNvPicPr>
            <a:picLocks noChangeAspect="1"/>
          </p:cNvPicPr>
          <p:nvPr/>
        </p:nvPicPr>
        <p:blipFill>
          <a:blip r:embed="rId4"/>
          <a:stretch>
            <a:fillRect/>
          </a:stretch>
        </p:blipFill>
        <p:spPr>
          <a:xfrm>
            <a:off x="6233007" y="1508760"/>
            <a:ext cx="2567863" cy="3246120"/>
          </a:xfrm>
          <a:prstGeom prst="rect">
            <a:avLst/>
          </a:prstGeom>
        </p:spPr>
      </p:pic>
      <p:pic>
        <p:nvPicPr>
          <p:cNvPr id="16" name="Icône partie 3" descr="img009.png"/>
          <p:cNvPicPr>
            <a:picLocks noChangeAspect="1"/>
          </p:cNvPicPr>
          <p:nvPr/>
        </p:nvPicPr>
        <p:blipFill>
          <a:blip r:embed="rId7"/>
          <a:stretch>
            <a:fillRect/>
          </a:stretch>
        </p:blipFill>
        <p:spPr>
          <a:xfrm>
            <a:off x="6580479" y="1892807"/>
            <a:ext cx="457200" cy="457200"/>
          </a:xfrm>
          <a:prstGeom prst="rect">
            <a:avLst/>
          </a:prstGeom>
        </p:spPr>
      </p:pic>
      <p:sp>
        <p:nvSpPr>
          <p:cNvPr id="17" name="Texte partie 3"/>
          <p:cNvSpPr txBox="1"/>
          <p:nvPr/>
        </p:nvSpPr>
        <p:spPr>
          <a:xfrm>
            <a:off x="6553047" y="2560320"/>
            <a:ext cx="1927783" cy="1874519"/>
          </a:xfrm>
          <a:prstGeom prst="rect">
            <a:avLst/>
          </a:prstGeom>
          <a:noFill/>
        </p:spPr>
        <p:txBody>
          <a:bodyPr wrap="square" lIns="0" tIns="0" rIns="0" bIns="0" anchor="t">
            <a:noAutofit/>
          </a:bodyPr>
          <a:lstStyle/>
          <a:p>
            <a:pPr algn="l">
              <a:spcAft>
                <a:spcPts val="1000"/>
              </a:spcAft>
            </a:pPr>
            <a:r>
              <a:rPr sz="1200" b="0" i="0" spc="250">
                <a:solidFill>
                  <a:srgbClr val="FFBD40"/>
                </a:solidFill>
                <a:latin typeface="Cinzel"/>
              </a:rPr>
              <a:t>ANTONIN</a:t>
            </a:r>
          </a:p>
          <a:p>
            <a:pPr algn="l">
              <a:spcAft>
                <a:spcPts val="600"/>
              </a:spcAft>
            </a:pPr>
            <a:r>
              <a:rPr sz="2000" b="1" i="0">
                <a:solidFill>
                  <a:srgbClr val="F5EDDB"/>
                </a:solidFill>
                <a:latin typeface="Calibri"/>
              </a:rPr>
              <a:t>La technique</a:t>
            </a:r>
          </a:p>
          <a:p>
            <a:pPr algn="l"/>
            <a:r>
              <a:rPr sz="1500" b="0" i="0">
                <a:solidFill>
                  <a:srgbClr val="D1DBFF"/>
                </a:solidFill>
                <a:latin typeface="Calibri"/>
              </a:rPr>
              <a:t>Comment le jeu est construit, et ce qui nous a résisté</a:t>
            </a:r>
          </a:p>
        </p:txBody>
      </p:sp>
      <p:sp>
        <p:nvSpPr>
          <p:cNvPr id="18" name="Durée partie 3"/>
          <p:cNvSpPr txBox="1"/>
          <p:nvPr/>
        </p:nvSpPr>
        <p:spPr>
          <a:xfrm>
            <a:off x="6553047" y="4160519"/>
            <a:ext cx="1927783" cy="320040"/>
          </a:xfrm>
          <a:prstGeom prst="rect">
            <a:avLst/>
          </a:prstGeom>
          <a:noFill/>
        </p:spPr>
        <p:txBody>
          <a:bodyPr wrap="square" lIns="0" tIns="0" rIns="0" bIns="0" anchor="t">
            <a:noAutofit/>
          </a:bodyPr>
          <a:lstStyle/>
          <a:p>
            <a:pPr algn="l"/>
            <a:r>
              <a:rPr sz="1100" b="0" i="0" spc="120">
                <a:solidFill>
                  <a:srgbClr val="A79FC4"/>
                </a:solidFill>
                <a:latin typeface="Cinzel"/>
              </a:rPr>
              <a:t>2 MIN 30</a:t>
            </a:r>
          </a:p>
        </p:txBody>
      </p:sp>
      <p:pic>
        <p:nvPicPr>
          <p:cNvPr id="19" name="Partie 4" descr="img004.png"/>
          <p:cNvPicPr>
            <a:picLocks noChangeAspect="1"/>
          </p:cNvPicPr>
          <p:nvPr/>
        </p:nvPicPr>
        <p:blipFill>
          <a:blip r:embed="rId4"/>
          <a:stretch>
            <a:fillRect/>
          </a:stretch>
        </p:blipFill>
        <p:spPr>
          <a:xfrm>
            <a:off x="9075191" y="1508760"/>
            <a:ext cx="2567863" cy="3246120"/>
          </a:xfrm>
          <a:prstGeom prst="rect">
            <a:avLst/>
          </a:prstGeom>
        </p:spPr>
      </p:pic>
      <p:pic>
        <p:nvPicPr>
          <p:cNvPr id="20" name="Icône partie 4" descr="img011.png"/>
          <p:cNvPicPr>
            <a:picLocks noChangeAspect="1"/>
          </p:cNvPicPr>
          <p:nvPr/>
        </p:nvPicPr>
        <p:blipFill>
          <a:blip r:embed="rId8"/>
          <a:stretch>
            <a:fillRect/>
          </a:stretch>
        </p:blipFill>
        <p:spPr>
          <a:xfrm>
            <a:off x="9422663" y="1892807"/>
            <a:ext cx="457200" cy="457200"/>
          </a:xfrm>
          <a:prstGeom prst="rect">
            <a:avLst/>
          </a:prstGeom>
        </p:spPr>
      </p:pic>
      <p:sp>
        <p:nvSpPr>
          <p:cNvPr id="21" name="Texte partie 4"/>
          <p:cNvSpPr txBox="1"/>
          <p:nvPr/>
        </p:nvSpPr>
        <p:spPr>
          <a:xfrm>
            <a:off x="9395231" y="2560320"/>
            <a:ext cx="1927783" cy="1874519"/>
          </a:xfrm>
          <a:prstGeom prst="rect">
            <a:avLst/>
          </a:prstGeom>
          <a:noFill/>
        </p:spPr>
        <p:txBody>
          <a:bodyPr wrap="square" lIns="0" tIns="0" rIns="0" bIns="0" anchor="t">
            <a:noAutofit/>
          </a:bodyPr>
          <a:lstStyle/>
          <a:p>
            <a:pPr algn="l">
              <a:spcAft>
                <a:spcPts val="1000"/>
              </a:spcAft>
            </a:pPr>
            <a:r>
              <a:rPr sz="1200" b="0" i="0" spc="250">
                <a:solidFill>
                  <a:srgbClr val="66F28C"/>
                </a:solidFill>
                <a:latin typeface="Cinzel"/>
              </a:rPr>
              <a:t>DOVIN</a:t>
            </a:r>
          </a:p>
          <a:p>
            <a:pPr algn="l">
              <a:spcAft>
                <a:spcPts val="600"/>
              </a:spcAft>
            </a:pPr>
            <a:r>
              <a:rPr sz="2000" b="1" i="0">
                <a:solidFill>
                  <a:srgbClr val="F5EDDB"/>
                </a:solidFill>
                <a:latin typeface="Calibri"/>
              </a:rPr>
              <a:t>L'équipe</a:t>
            </a:r>
          </a:p>
          <a:p>
            <a:pPr algn="l"/>
            <a:r>
              <a:rPr sz="1500" b="0" i="0">
                <a:solidFill>
                  <a:srgbClr val="D1DBFF"/>
                </a:solidFill>
                <a:latin typeface="Calibri"/>
              </a:rPr>
              <a:t>Qui a fait quoi, comment on a travaillé, le bilan</a:t>
            </a:r>
          </a:p>
        </p:txBody>
      </p:sp>
      <p:sp>
        <p:nvSpPr>
          <p:cNvPr id="22" name="Durée partie 4"/>
          <p:cNvSpPr txBox="1"/>
          <p:nvPr/>
        </p:nvSpPr>
        <p:spPr>
          <a:xfrm>
            <a:off x="9395231" y="4160519"/>
            <a:ext cx="1927783" cy="320040"/>
          </a:xfrm>
          <a:prstGeom prst="rect">
            <a:avLst/>
          </a:prstGeom>
          <a:noFill/>
        </p:spPr>
        <p:txBody>
          <a:bodyPr wrap="square" lIns="0" tIns="0" rIns="0" bIns="0" anchor="t">
            <a:noAutofit/>
          </a:bodyPr>
          <a:lstStyle/>
          <a:p>
            <a:pPr algn="l"/>
            <a:r>
              <a:rPr sz="1100" b="0" i="0" spc="120">
                <a:solidFill>
                  <a:srgbClr val="A79FC4"/>
                </a:solidFill>
                <a:latin typeface="Cinzel"/>
              </a:rPr>
              <a:t>2 MIN 30</a:t>
            </a:r>
          </a:p>
        </p:txBody>
      </p:sp>
      <p:pic>
        <p:nvPicPr>
          <p:cNvPr id="23" name="Démo et questions" descr="img012.png"/>
          <p:cNvPicPr>
            <a:picLocks noChangeAspect="1"/>
          </p:cNvPicPr>
          <p:nvPr/>
        </p:nvPicPr>
        <p:blipFill>
          <a:blip r:embed="rId9"/>
          <a:stretch>
            <a:fillRect/>
          </a:stretch>
        </p:blipFill>
        <p:spPr>
          <a:xfrm>
            <a:off x="2804007" y="5120640"/>
            <a:ext cx="6583680" cy="868680"/>
          </a:xfrm>
          <a:prstGeom prst="rect">
            <a:avLst/>
          </a:prstGeom>
        </p:spPr>
      </p:pic>
      <p:sp>
        <p:nvSpPr>
          <p:cNvPr id="24" name="Texte démo"/>
          <p:cNvSpPr txBox="1"/>
          <p:nvPr/>
        </p:nvSpPr>
        <p:spPr>
          <a:xfrm>
            <a:off x="2804007" y="5120640"/>
            <a:ext cx="6583680" cy="868680"/>
          </a:xfrm>
          <a:prstGeom prst="rect">
            <a:avLst/>
          </a:prstGeom>
          <a:noFill/>
        </p:spPr>
        <p:txBody>
          <a:bodyPr wrap="square" lIns="0" tIns="0" rIns="0" bIns="0" anchor="ctr">
            <a:noAutofit/>
          </a:bodyPr>
          <a:lstStyle/>
          <a:p>
            <a:pPr algn="ctr"/>
            <a:r>
              <a:rPr sz="1700" b="0" i="0">
                <a:solidFill>
                  <a:srgbClr val="F5EDDB"/>
                </a:solidFill>
                <a:latin typeface="Calibri"/>
              </a:rPr>
              <a:t>Puis </a:t>
            </a:r>
            <a:r>
              <a:rPr sz="1700" b="1" i="0">
                <a:solidFill>
                  <a:srgbClr val="FFCC61"/>
                </a:solidFill>
                <a:latin typeface="Calibri"/>
              </a:rPr>
              <a:t>5 minutes de démo au casque</a:t>
            </a:r>
            <a:r>
              <a:rPr sz="1700" b="0" i="0">
                <a:solidFill>
                  <a:srgbClr val="F5EDDB"/>
                </a:solidFill>
                <a:latin typeface="Calibri"/>
              </a:rPr>
              <a:t>, et vos questions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ond" descr="img001.png"/>
          <p:cNvPicPr>
            <a:picLocks noChangeAspect="1"/>
          </p:cNvPicPr>
          <p:nvPr/>
        </p:nvPicPr>
        <p:blipFill>
          <a:blip r:embed="rId3"/>
          <a:stretch>
            <a:fillRect/>
          </a:stretch>
        </p:blipFill>
        <p:spPr>
          <a:xfrm>
            <a:off x="0" y="0"/>
            <a:ext cx="12191695" cy="6858000"/>
          </a:xfrm>
          <a:prstGeom prst="rect">
            <a:avLst/>
          </a:prstGeom>
        </p:spPr>
      </p:pic>
      <p:sp>
        <p:nvSpPr>
          <p:cNvPr id="3" name="Titre"/>
          <p:cNvSpPr txBox="1"/>
          <p:nvPr/>
        </p:nvSpPr>
        <p:spPr>
          <a:xfrm>
            <a:off x="548640" y="411480"/>
            <a:ext cx="9326880" cy="731520"/>
          </a:xfrm>
          <a:prstGeom prst="rect">
            <a:avLst/>
          </a:prstGeom>
          <a:noFill/>
        </p:spPr>
        <p:txBody>
          <a:bodyPr wrap="square" lIns="0" tIns="0" rIns="0" bIns="0" anchor="ctr">
            <a:noAutofit/>
          </a:bodyPr>
          <a:lstStyle/>
          <a:p>
            <a:pPr algn="l"/>
            <a:r>
              <a:rPr sz="3200" b="0"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inzel Decorative"/>
              </a:rPr>
              <a:t>Défendre sa tour, à l'arc</a:t>
            </a:r>
          </a:p>
        </p:txBody>
      </p:sp>
      <p:sp>
        <p:nvSpPr>
          <p:cNvPr id="4" name="Orateur"/>
          <p:cNvSpPr txBox="1"/>
          <p:nvPr/>
        </p:nvSpPr>
        <p:spPr>
          <a:xfrm>
            <a:off x="9509760" y="566928"/>
            <a:ext cx="2133295" cy="411480"/>
          </a:xfrm>
          <a:prstGeom prst="rect">
            <a:avLst/>
          </a:prstGeom>
          <a:noFill/>
        </p:spPr>
        <p:txBody>
          <a:bodyPr wrap="square" lIns="0" tIns="0" rIns="0" bIns="0" anchor="ctr">
            <a:noAutofit/>
          </a:bodyPr>
          <a:lstStyle/>
          <a:p>
            <a:pPr algn="r"/>
            <a:r>
              <a:rPr sz="1400" b="0" i="0" spc="250">
                <a:solidFill>
                  <a:srgbClr val="4DD9FF"/>
                </a:solidFill>
                <a:latin typeface="Cinzel"/>
              </a:rPr>
              <a:t>MERLEAU</a:t>
            </a:r>
          </a:p>
        </p:txBody>
      </p:sp>
      <p:sp>
        <p:nvSpPr>
          <p:cNvPr id="5" name="Pied"/>
          <p:cNvSpPr txBox="1"/>
          <p:nvPr/>
        </p:nvSpPr>
        <p:spPr>
          <a:xfrm>
            <a:off x="548640" y="6400800"/>
            <a:ext cx="2743200" cy="274320"/>
          </a:xfrm>
          <a:prstGeom prst="rect">
            <a:avLst/>
          </a:prstGeom>
          <a:noFill/>
        </p:spPr>
        <p:txBody>
          <a:bodyPr wrap="square" lIns="0" tIns="0" rIns="0" bIns="0" anchor="t">
            <a:noAutofit/>
          </a:bodyPr>
          <a:lstStyle/>
          <a:p>
            <a:pPr algn="l"/>
            <a:r>
              <a:rPr sz="1000" b="0" i="0" spc="200">
                <a:solidFill>
                  <a:srgbClr val="A79FC4"/>
                </a:solidFill>
                <a:latin typeface="Cinzel"/>
              </a:rPr>
              <a:t>THUNK VR</a:t>
            </a:r>
          </a:p>
        </p:txBody>
      </p:sp>
      <p:sp>
        <p:nvSpPr>
          <p:cNvPr id="6" name="Numéro"/>
          <p:cNvSpPr txBox="1"/>
          <p:nvPr/>
        </p:nvSpPr>
        <p:spPr>
          <a:xfrm>
            <a:off x="10271455" y="6400800"/>
            <a:ext cx="1371600" cy="274320"/>
          </a:xfrm>
          <a:prstGeom prst="rect">
            <a:avLst/>
          </a:prstGeom>
          <a:noFill/>
        </p:spPr>
        <p:txBody>
          <a:bodyPr wrap="square" lIns="0" tIns="0" rIns="0" bIns="0" anchor="t">
            <a:noAutofit/>
          </a:bodyPr>
          <a:lstStyle/>
          <a:p>
            <a:pPr algn="r"/>
            <a:r>
              <a:rPr sz="1100" b="0" i="0">
                <a:solidFill>
                  <a:srgbClr val="A79FC4"/>
                </a:solidFill>
                <a:latin typeface="Calibri"/>
              </a:rPr>
              <a:t>3 / 12</a:t>
            </a:r>
          </a:p>
        </p:txBody>
      </p:sp>
      <p:pic>
        <p:nvPicPr>
          <p:cNvPr id="7" name="Fond tir" descr="img013.png"/>
          <p:cNvPicPr>
            <a:picLocks noChangeAspect="1"/>
          </p:cNvPicPr>
          <p:nvPr/>
        </p:nvPicPr>
        <p:blipFill>
          <a:blip r:embed="rId4"/>
          <a:stretch>
            <a:fillRect/>
          </a:stretch>
        </p:blipFill>
        <p:spPr>
          <a:xfrm>
            <a:off x="484632" y="1490472"/>
            <a:ext cx="6528816" cy="3728465"/>
          </a:xfrm>
          <a:prstGeom prst="rect">
            <a:avLst/>
          </a:prstGeom>
        </p:spPr>
      </p:pic>
      <p:sp>
        <p:nvSpPr>
          <p:cNvPr id="8" name="Attente tir"/>
          <p:cNvSpPr txBox="1"/>
          <p:nvPr/>
        </p:nvSpPr>
        <p:spPr>
          <a:xfrm>
            <a:off x="822959" y="1554480"/>
            <a:ext cx="5852160" cy="3600450"/>
          </a:xfrm>
          <a:prstGeom prst="rect">
            <a:avLst/>
          </a:prstGeom>
          <a:noFill/>
        </p:spPr>
        <p:txBody>
          <a:bodyPr wrap="square" lIns="0" tIns="0" rIns="0" bIns="0" anchor="ctr">
            <a:noAutofit/>
          </a:bodyPr>
          <a:lstStyle/>
          <a:p>
            <a:pPr algn="ctr">
              <a:spcAft>
                <a:spcPts val="400"/>
              </a:spcAft>
            </a:pPr>
            <a:r>
              <a:rPr sz="1100" b="0" i="0" spc="120">
                <a:solidFill>
                  <a:srgbClr val="A79FC4"/>
                </a:solidFill>
                <a:latin typeface="Cinzel"/>
              </a:rPr>
              <a:t>CAPTURE À VENIR</a:t>
            </a:r>
          </a:p>
          <a:p>
            <a:pPr algn="ctr">
              <a:spcAft>
                <a:spcPts val="200"/>
              </a:spcAft>
            </a:pPr>
            <a:r>
              <a:rPr sz="1200" b="0" i="0">
                <a:solidFill>
                  <a:srgbClr val="D1DBFF"/>
                </a:solidFill>
                <a:latin typeface="Calibri"/>
              </a:rPr>
              <a:t>captures/tir.png</a:t>
            </a:r>
          </a:p>
          <a:p>
            <a:pPr algn="ctr"/>
            <a:r>
              <a:rPr sz="1200" b="0" i="0">
                <a:solidFill>
                  <a:srgbClr val="A79FC4"/>
                </a:solidFill>
                <a:latin typeface="Calibri"/>
              </a:rPr>
              <a:t>l'arc tendu, avec l'anneau de timing</a:t>
            </a:r>
          </a:p>
        </p:txBody>
      </p:sp>
      <p:pic>
        <p:nvPicPr>
          <p:cNvPr id="9" name="Cadre tir" descr="img014.png"/>
          <p:cNvPicPr>
            <a:picLocks noChangeAspect="1"/>
          </p:cNvPicPr>
          <p:nvPr/>
        </p:nvPicPr>
        <p:blipFill>
          <a:blip r:embed="rId5"/>
          <a:stretch>
            <a:fillRect/>
          </a:stretch>
        </p:blipFill>
        <p:spPr>
          <a:xfrm>
            <a:off x="484632" y="1490472"/>
            <a:ext cx="6528816" cy="3728465"/>
          </a:xfrm>
          <a:prstGeom prst="rect">
            <a:avLst/>
          </a:prstGeom>
        </p:spPr>
      </p:pic>
      <p:sp>
        <p:nvSpPr>
          <p:cNvPr id="10" name="Légende tir"/>
          <p:cNvSpPr txBox="1"/>
          <p:nvPr/>
        </p:nvSpPr>
        <p:spPr>
          <a:xfrm>
            <a:off x="548640" y="5337810"/>
            <a:ext cx="6400800" cy="457200"/>
          </a:xfrm>
          <a:prstGeom prst="rect">
            <a:avLst/>
          </a:prstGeom>
          <a:noFill/>
        </p:spPr>
        <p:txBody>
          <a:bodyPr wrap="square" lIns="0" tIns="0" rIns="0" bIns="0" anchor="t">
            <a:noAutofit/>
          </a:bodyPr>
          <a:lstStyle/>
          <a:p>
            <a:pPr algn="l"/>
            <a:r>
              <a:rPr sz="1200" b="0" i="0">
                <a:solidFill>
                  <a:srgbClr val="A79FC4"/>
                </a:solidFill>
                <a:latin typeface="Calibri"/>
              </a:rPr>
              <a:t>Tendre la corde : l'anneau passe du rouge au vert. Lâcher dans le vert, c'est le tir parfait.</a:t>
            </a:r>
          </a:p>
        </p:txBody>
      </p:sp>
      <p:pic>
        <p:nvPicPr>
          <p:cNvPr id="11" name="Trois genres" descr="img015.png"/>
          <p:cNvPicPr>
            <a:picLocks noChangeAspect="1"/>
          </p:cNvPicPr>
          <p:nvPr/>
        </p:nvPicPr>
        <p:blipFill>
          <a:blip r:embed="rId6"/>
          <a:stretch>
            <a:fillRect/>
          </a:stretch>
        </p:blipFill>
        <p:spPr>
          <a:xfrm>
            <a:off x="7360919" y="1490472"/>
            <a:ext cx="4282135" cy="3728465"/>
          </a:xfrm>
          <a:prstGeom prst="rect">
            <a:avLst/>
          </a:prstGeom>
        </p:spPr>
      </p:pic>
      <p:sp>
        <p:nvSpPr>
          <p:cNvPr id="12" name="Texte genres"/>
          <p:cNvSpPr txBox="1"/>
          <p:nvPr/>
        </p:nvSpPr>
        <p:spPr>
          <a:xfrm>
            <a:off x="7726679" y="1828800"/>
            <a:ext cx="3550615" cy="3051810"/>
          </a:xfrm>
          <a:prstGeom prst="rect">
            <a:avLst/>
          </a:prstGeom>
          <a:noFill/>
        </p:spPr>
        <p:txBody>
          <a:bodyPr wrap="square" lIns="0" tIns="0" rIns="0" bIns="0" anchor="ctr">
            <a:noAutofit/>
          </a:bodyPr>
          <a:lstStyle/>
          <a:p>
            <a:pPr algn="l">
              <a:spcBef>
                <a:spcPts val="0"/>
              </a:spcBef>
              <a:spcAft>
                <a:spcPts val="300"/>
              </a:spcAft>
            </a:pPr>
            <a:r>
              <a:rPr sz="1300" b="0" i="0" spc="200">
                <a:solidFill>
                  <a:srgbClr val="FFCC61"/>
                </a:solidFill>
                <a:latin typeface="Cinzel"/>
              </a:rPr>
              <a:t>SURVIE</a:t>
            </a:r>
          </a:p>
          <a:p>
            <a:pPr algn="l"/>
            <a:r>
              <a:rPr sz="1600" b="0" i="0">
                <a:solidFill>
                  <a:srgbClr val="F5EDDB"/>
                </a:solidFill>
                <a:latin typeface="Calibri"/>
              </a:rPr>
              <a:t>Six vagues de monstres de plus en plus fortes, chacune finie par un boss.</a:t>
            </a:r>
          </a:p>
          <a:p>
            <a:pPr algn="l">
              <a:spcBef>
                <a:spcPts val="1400"/>
              </a:spcBef>
              <a:spcAft>
                <a:spcPts val="300"/>
              </a:spcAft>
            </a:pPr>
            <a:r>
              <a:rPr sz="1300" b="0" i="0" spc="200">
                <a:solidFill>
                  <a:srgbClr val="FFCC61"/>
                </a:solidFill>
                <a:latin typeface="Cinzel"/>
              </a:rPr>
              <a:t>ROGUELIKE</a:t>
            </a:r>
          </a:p>
          <a:p>
            <a:pPr algn="l"/>
            <a:r>
              <a:rPr sz="1600" b="0" i="0">
                <a:solidFill>
                  <a:srgbClr val="F5EDDB"/>
                </a:solidFill>
                <a:latin typeface="Calibri"/>
              </a:rPr>
              <a:t>Entre les vagues, des améliorations tirées au sort, qui se cumulent sans limite.</a:t>
            </a:r>
          </a:p>
          <a:p>
            <a:pPr algn="l">
              <a:spcBef>
                <a:spcPts val="1400"/>
              </a:spcBef>
              <a:spcAft>
                <a:spcPts val="300"/>
              </a:spcAft>
            </a:pPr>
            <a:r>
              <a:rPr sz="1300" b="0" i="0" spc="200">
                <a:solidFill>
                  <a:srgbClr val="FFCC61"/>
                </a:solidFill>
                <a:latin typeface="Cinzel"/>
              </a:rPr>
              <a:t>TOWER DEFENSE</a:t>
            </a:r>
          </a:p>
          <a:p>
            <a:pPr algn="l"/>
            <a:r>
              <a:rPr sz="1600" b="0" i="0">
                <a:solidFill>
                  <a:srgbClr val="F5EDDB"/>
                </a:solidFill>
                <a:latin typeface="Calibri"/>
              </a:rPr>
              <a:t>Récolter des cristaux, puis construire ses défenses au marteau, avec ses mains.</a:t>
            </a:r>
          </a:p>
        </p:txBody>
      </p:sp>
      <p:sp>
        <p:nvSpPr>
          <p:cNvPr id="13" name="Inspirations"/>
          <p:cNvSpPr txBox="1"/>
          <p:nvPr/>
        </p:nvSpPr>
        <p:spPr>
          <a:xfrm>
            <a:off x="7360919" y="5337810"/>
            <a:ext cx="4282135" cy="457200"/>
          </a:xfrm>
          <a:prstGeom prst="rect">
            <a:avLst/>
          </a:prstGeom>
          <a:noFill/>
        </p:spPr>
        <p:txBody>
          <a:bodyPr wrap="square" lIns="0" tIns="0" rIns="0" bIns="0" anchor="t">
            <a:noAutofit/>
          </a:bodyPr>
          <a:lstStyle/>
          <a:p>
            <a:pPr algn="l"/>
            <a:r>
              <a:rPr sz="1200" b="0" i="0">
                <a:solidFill>
                  <a:srgbClr val="A79FC4"/>
                </a:solidFill>
                <a:latin typeface="Calibri"/>
              </a:rPr>
              <a:t>Inspirations : </a:t>
            </a:r>
            <a:r>
              <a:rPr sz="1200" b="0" i="1">
                <a:solidFill>
                  <a:srgbClr val="D1DBFF"/>
                </a:solidFill>
                <a:latin typeface="Calibri"/>
              </a:rPr>
              <a:t>Megabonk</a:t>
            </a:r>
            <a:r>
              <a:rPr sz="1200" b="0" i="0">
                <a:solidFill>
                  <a:srgbClr val="A79FC4"/>
                </a:solidFill>
                <a:latin typeface="Calibri"/>
              </a:rPr>
              <a:t>, et </a:t>
            </a:r>
            <a:r>
              <a:rPr sz="1200" b="0" i="1">
                <a:solidFill>
                  <a:srgbClr val="D1DBFF"/>
                </a:solidFill>
                <a:latin typeface="Calibri"/>
              </a:rPr>
              <a:t>Longbow</a:t>
            </a:r>
            <a:r>
              <a:rPr sz="1200" b="0" i="0">
                <a:solidFill>
                  <a:srgbClr val="A79FC4"/>
                </a:solidFill>
                <a:latin typeface="Calibri"/>
              </a:rPr>
              <a:t> dans </a:t>
            </a:r>
            <a:r>
              <a:rPr sz="1200" b="0" i="1">
                <a:solidFill>
                  <a:srgbClr val="D1DBFF"/>
                </a:solidFill>
                <a:latin typeface="Calibri"/>
              </a:rPr>
              <a:t>The Lab</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ond" descr="img001.png"/>
          <p:cNvPicPr>
            <a:picLocks noChangeAspect="1"/>
          </p:cNvPicPr>
          <p:nvPr/>
        </p:nvPicPr>
        <p:blipFill>
          <a:blip r:embed="rId3"/>
          <a:stretch>
            <a:fillRect/>
          </a:stretch>
        </p:blipFill>
        <p:spPr>
          <a:xfrm>
            <a:off x="0" y="0"/>
            <a:ext cx="12191695" cy="6858000"/>
          </a:xfrm>
          <a:prstGeom prst="rect">
            <a:avLst/>
          </a:prstGeom>
        </p:spPr>
      </p:pic>
      <p:sp>
        <p:nvSpPr>
          <p:cNvPr id="3" name="Titre"/>
          <p:cNvSpPr txBox="1"/>
          <p:nvPr/>
        </p:nvSpPr>
        <p:spPr>
          <a:xfrm>
            <a:off x="548640" y="411480"/>
            <a:ext cx="9326880" cy="731520"/>
          </a:xfrm>
          <a:prstGeom prst="rect">
            <a:avLst/>
          </a:prstGeom>
          <a:noFill/>
        </p:spPr>
        <p:txBody>
          <a:bodyPr wrap="square" lIns="0" tIns="0" rIns="0" bIns="0" anchor="ctr">
            <a:noAutofit/>
          </a:bodyPr>
          <a:lstStyle/>
          <a:p>
            <a:pPr algn="l"/>
            <a:r>
              <a:rPr sz="3200" b="0"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inzel Decorative"/>
              </a:rPr>
              <a:t>Une partie, de la tour au dragon</a:t>
            </a:r>
          </a:p>
        </p:txBody>
      </p:sp>
      <p:sp>
        <p:nvSpPr>
          <p:cNvPr id="4" name="Orateur"/>
          <p:cNvSpPr txBox="1"/>
          <p:nvPr/>
        </p:nvSpPr>
        <p:spPr>
          <a:xfrm>
            <a:off x="9509760" y="566928"/>
            <a:ext cx="2133295" cy="411480"/>
          </a:xfrm>
          <a:prstGeom prst="rect">
            <a:avLst/>
          </a:prstGeom>
          <a:noFill/>
        </p:spPr>
        <p:txBody>
          <a:bodyPr wrap="square" lIns="0" tIns="0" rIns="0" bIns="0" anchor="ctr">
            <a:noAutofit/>
          </a:bodyPr>
          <a:lstStyle/>
          <a:p>
            <a:pPr algn="r"/>
            <a:r>
              <a:rPr sz="1400" b="0" i="0" spc="250">
                <a:solidFill>
                  <a:srgbClr val="4DD9FF"/>
                </a:solidFill>
                <a:latin typeface="Cinzel"/>
              </a:rPr>
              <a:t>MERLEAU</a:t>
            </a:r>
          </a:p>
        </p:txBody>
      </p:sp>
      <p:sp>
        <p:nvSpPr>
          <p:cNvPr id="5" name="Pied"/>
          <p:cNvSpPr txBox="1"/>
          <p:nvPr/>
        </p:nvSpPr>
        <p:spPr>
          <a:xfrm>
            <a:off x="548640" y="6400800"/>
            <a:ext cx="2743200" cy="274320"/>
          </a:xfrm>
          <a:prstGeom prst="rect">
            <a:avLst/>
          </a:prstGeom>
          <a:noFill/>
        </p:spPr>
        <p:txBody>
          <a:bodyPr wrap="square" lIns="0" tIns="0" rIns="0" bIns="0" anchor="t">
            <a:noAutofit/>
          </a:bodyPr>
          <a:lstStyle/>
          <a:p>
            <a:pPr algn="l"/>
            <a:r>
              <a:rPr sz="1000" b="0" i="0" spc="200">
                <a:solidFill>
                  <a:srgbClr val="A79FC4"/>
                </a:solidFill>
                <a:latin typeface="Cinzel"/>
              </a:rPr>
              <a:t>THUNK VR</a:t>
            </a:r>
          </a:p>
        </p:txBody>
      </p:sp>
      <p:sp>
        <p:nvSpPr>
          <p:cNvPr id="6" name="Numéro"/>
          <p:cNvSpPr txBox="1"/>
          <p:nvPr/>
        </p:nvSpPr>
        <p:spPr>
          <a:xfrm>
            <a:off x="10271455" y="6400800"/>
            <a:ext cx="1371600" cy="274320"/>
          </a:xfrm>
          <a:prstGeom prst="rect">
            <a:avLst/>
          </a:prstGeom>
          <a:noFill/>
        </p:spPr>
        <p:txBody>
          <a:bodyPr wrap="square" lIns="0" tIns="0" rIns="0" bIns="0" anchor="t">
            <a:noAutofit/>
          </a:bodyPr>
          <a:lstStyle/>
          <a:p>
            <a:pPr algn="r"/>
            <a:r>
              <a:rPr sz="1100" b="0" i="0">
                <a:solidFill>
                  <a:srgbClr val="A79FC4"/>
                </a:solidFill>
                <a:latin typeface="Calibri"/>
              </a:rPr>
              <a:t>4 / 12</a:t>
            </a:r>
          </a:p>
        </p:txBody>
      </p:sp>
      <p:pic>
        <p:nvPicPr>
          <p:cNvPr id="7" name="Étape 1" descr="img017.png"/>
          <p:cNvPicPr>
            <a:picLocks noChangeAspect="1"/>
          </p:cNvPicPr>
          <p:nvPr/>
        </p:nvPicPr>
        <p:blipFill>
          <a:blip r:embed="rId4"/>
          <a:stretch>
            <a:fillRect/>
          </a:stretch>
        </p:blipFill>
        <p:spPr>
          <a:xfrm>
            <a:off x="548640" y="1463040"/>
            <a:ext cx="1911644" cy="1463040"/>
          </a:xfrm>
          <a:prstGeom prst="rect">
            <a:avLst/>
          </a:prstGeom>
        </p:spPr>
      </p:pic>
      <p:sp>
        <p:nvSpPr>
          <p:cNvPr id="8" name="Texte étape 1"/>
          <p:cNvSpPr txBox="1"/>
          <p:nvPr/>
        </p:nvSpPr>
        <p:spPr>
          <a:xfrm>
            <a:off x="804672" y="1691640"/>
            <a:ext cx="1399580" cy="1051560"/>
          </a:xfrm>
          <a:prstGeom prst="rect">
            <a:avLst/>
          </a:prstGeom>
          <a:noFill/>
        </p:spPr>
        <p:txBody>
          <a:bodyPr wrap="square" lIns="0" tIns="0" rIns="0" bIns="0" anchor="t">
            <a:noAutofit/>
          </a:bodyPr>
          <a:lstStyle/>
          <a:p>
            <a:pPr algn="l">
              <a:spcAft>
                <a:spcPts val="600"/>
              </a:spcAft>
            </a:pPr>
            <a:r>
              <a:rPr sz="1300" b="0" i="0" spc="200">
                <a:solidFill>
                  <a:srgbClr val="FFCC61"/>
                </a:solidFill>
                <a:latin typeface="Cinzel"/>
              </a:rPr>
              <a:t>MENU</a:t>
            </a:r>
          </a:p>
          <a:p>
            <a:pPr algn="l"/>
            <a:r>
              <a:rPr sz="1400" b="0" i="0">
                <a:solidFill>
                  <a:srgbClr val="F5EDDB"/>
                </a:solidFill>
                <a:latin typeface="Calibri"/>
              </a:rPr>
              <a:t>On choisit la difficulté : le ciel change.</a:t>
            </a:r>
          </a:p>
        </p:txBody>
      </p:sp>
      <p:pic>
        <p:nvPicPr>
          <p:cNvPr id="9" name="Flèche 1" descr="img016.png"/>
          <p:cNvPicPr>
            <a:picLocks noChangeAspect="1"/>
          </p:cNvPicPr>
          <p:nvPr/>
        </p:nvPicPr>
        <p:blipFill>
          <a:blip r:embed="rId5"/>
          <a:stretch>
            <a:fillRect/>
          </a:stretch>
        </p:blipFill>
        <p:spPr>
          <a:xfrm>
            <a:off x="2542580" y="2084832"/>
            <a:ext cx="219456" cy="219456"/>
          </a:xfrm>
          <a:prstGeom prst="rect">
            <a:avLst/>
          </a:prstGeom>
        </p:spPr>
      </p:pic>
      <p:pic>
        <p:nvPicPr>
          <p:cNvPr id="10" name="Étape 2" descr="img017.png"/>
          <p:cNvPicPr>
            <a:picLocks noChangeAspect="1"/>
          </p:cNvPicPr>
          <p:nvPr/>
        </p:nvPicPr>
        <p:blipFill>
          <a:blip r:embed="rId4"/>
          <a:stretch>
            <a:fillRect/>
          </a:stretch>
        </p:blipFill>
        <p:spPr>
          <a:xfrm>
            <a:off x="2844332" y="1463040"/>
            <a:ext cx="1911644" cy="1463040"/>
          </a:xfrm>
          <a:prstGeom prst="rect">
            <a:avLst/>
          </a:prstGeom>
        </p:spPr>
      </p:pic>
      <p:sp>
        <p:nvSpPr>
          <p:cNvPr id="11" name="Texte étape 2"/>
          <p:cNvSpPr txBox="1"/>
          <p:nvPr/>
        </p:nvSpPr>
        <p:spPr>
          <a:xfrm>
            <a:off x="3100364" y="1691640"/>
            <a:ext cx="1399580" cy="1051560"/>
          </a:xfrm>
          <a:prstGeom prst="rect">
            <a:avLst/>
          </a:prstGeom>
          <a:noFill/>
        </p:spPr>
        <p:txBody>
          <a:bodyPr wrap="square" lIns="0" tIns="0" rIns="0" bIns="0" anchor="t">
            <a:noAutofit/>
          </a:bodyPr>
          <a:lstStyle/>
          <a:p>
            <a:pPr algn="l">
              <a:spcAft>
                <a:spcPts val="600"/>
              </a:spcAft>
            </a:pPr>
            <a:r>
              <a:rPr sz="1300" b="0" i="0" spc="200">
                <a:solidFill>
                  <a:srgbClr val="FFCC61"/>
                </a:solidFill>
                <a:latin typeface="Cinzel"/>
              </a:rPr>
              <a:t>VAGUE</a:t>
            </a:r>
          </a:p>
          <a:p>
            <a:pPr algn="l"/>
            <a:r>
              <a:rPr sz="1400" b="0" i="0">
                <a:solidFill>
                  <a:srgbClr val="F5EDDB"/>
                </a:solidFill>
                <a:latin typeface="Calibri"/>
              </a:rPr>
              <a:t>Une accalmie pour construire, puis la montée.</a:t>
            </a:r>
          </a:p>
        </p:txBody>
      </p:sp>
      <p:pic>
        <p:nvPicPr>
          <p:cNvPr id="12" name="Flèche 2" descr="img016.png"/>
          <p:cNvPicPr>
            <a:picLocks noChangeAspect="1"/>
          </p:cNvPicPr>
          <p:nvPr/>
        </p:nvPicPr>
        <p:blipFill>
          <a:blip r:embed="rId5"/>
          <a:stretch>
            <a:fillRect/>
          </a:stretch>
        </p:blipFill>
        <p:spPr>
          <a:xfrm>
            <a:off x="4838273" y="2084832"/>
            <a:ext cx="219456" cy="219456"/>
          </a:xfrm>
          <a:prstGeom prst="rect">
            <a:avLst/>
          </a:prstGeom>
        </p:spPr>
      </p:pic>
      <p:pic>
        <p:nvPicPr>
          <p:cNvPr id="13" name="Étape 3" descr="img017.png"/>
          <p:cNvPicPr>
            <a:picLocks noChangeAspect="1"/>
          </p:cNvPicPr>
          <p:nvPr/>
        </p:nvPicPr>
        <p:blipFill>
          <a:blip r:embed="rId4"/>
          <a:stretch>
            <a:fillRect/>
          </a:stretch>
        </p:blipFill>
        <p:spPr>
          <a:xfrm>
            <a:off x="5140025" y="1463040"/>
            <a:ext cx="1911644" cy="1463040"/>
          </a:xfrm>
          <a:prstGeom prst="rect">
            <a:avLst/>
          </a:prstGeom>
        </p:spPr>
      </p:pic>
      <p:sp>
        <p:nvSpPr>
          <p:cNvPr id="14" name="Texte étape 3"/>
          <p:cNvSpPr txBox="1"/>
          <p:nvPr/>
        </p:nvSpPr>
        <p:spPr>
          <a:xfrm>
            <a:off x="5396057" y="1691640"/>
            <a:ext cx="1399580" cy="1051560"/>
          </a:xfrm>
          <a:prstGeom prst="rect">
            <a:avLst/>
          </a:prstGeom>
          <a:noFill/>
        </p:spPr>
        <p:txBody>
          <a:bodyPr wrap="square" lIns="0" tIns="0" rIns="0" bIns="0" anchor="t">
            <a:noAutofit/>
          </a:bodyPr>
          <a:lstStyle/>
          <a:p>
            <a:pPr algn="l">
              <a:spcAft>
                <a:spcPts val="600"/>
              </a:spcAft>
            </a:pPr>
            <a:r>
              <a:rPr sz="1300" b="0" i="0" spc="200">
                <a:solidFill>
                  <a:srgbClr val="FFCC61"/>
                </a:solidFill>
                <a:latin typeface="Cinzel"/>
              </a:rPr>
              <a:t>BOSS</a:t>
            </a:r>
          </a:p>
          <a:p>
            <a:pPr algn="l"/>
            <a:r>
              <a:rPr sz="1400" b="0" i="0">
                <a:solidFill>
                  <a:srgbClr val="F5EDDB"/>
                </a:solidFill>
                <a:latin typeface="Calibri"/>
              </a:rPr>
              <a:t>Un boss par vague, avec son point faible.</a:t>
            </a:r>
          </a:p>
        </p:txBody>
      </p:sp>
      <p:pic>
        <p:nvPicPr>
          <p:cNvPr id="15" name="Flèche 3" descr="img016.png"/>
          <p:cNvPicPr>
            <a:picLocks noChangeAspect="1"/>
          </p:cNvPicPr>
          <p:nvPr/>
        </p:nvPicPr>
        <p:blipFill>
          <a:blip r:embed="rId5"/>
          <a:stretch>
            <a:fillRect/>
          </a:stretch>
        </p:blipFill>
        <p:spPr>
          <a:xfrm>
            <a:off x="7133965" y="2084832"/>
            <a:ext cx="219456" cy="219456"/>
          </a:xfrm>
          <a:prstGeom prst="rect">
            <a:avLst/>
          </a:prstGeom>
        </p:spPr>
      </p:pic>
      <p:pic>
        <p:nvPicPr>
          <p:cNvPr id="16" name="Étape 4" descr="img017.png"/>
          <p:cNvPicPr>
            <a:picLocks noChangeAspect="1"/>
          </p:cNvPicPr>
          <p:nvPr/>
        </p:nvPicPr>
        <p:blipFill>
          <a:blip r:embed="rId4"/>
          <a:stretch>
            <a:fillRect/>
          </a:stretch>
        </p:blipFill>
        <p:spPr>
          <a:xfrm>
            <a:off x="7435717" y="1463040"/>
            <a:ext cx="1911644" cy="1463040"/>
          </a:xfrm>
          <a:prstGeom prst="rect">
            <a:avLst/>
          </a:prstGeom>
        </p:spPr>
      </p:pic>
      <p:sp>
        <p:nvSpPr>
          <p:cNvPr id="17" name="Texte étape 4"/>
          <p:cNvSpPr txBox="1"/>
          <p:nvPr/>
        </p:nvSpPr>
        <p:spPr>
          <a:xfrm>
            <a:off x="7691749" y="1691640"/>
            <a:ext cx="1399580" cy="1051560"/>
          </a:xfrm>
          <a:prstGeom prst="rect">
            <a:avLst/>
          </a:prstGeom>
          <a:noFill/>
        </p:spPr>
        <p:txBody>
          <a:bodyPr wrap="square" lIns="0" tIns="0" rIns="0" bIns="0" anchor="t">
            <a:noAutofit/>
          </a:bodyPr>
          <a:lstStyle/>
          <a:p>
            <a:pPr algn="l">
              <a:spcAft>
                <a:spcPts val="600"/>
              </a:spcAft>
            </a:pPr>
            <a:r>
              <a:rPr sz="1300" b="0" i="0" spc="200">
                <a:solidFill>
                  <a:srgbClr val="FFCC61"/>
                </a:solidFill>
                <a:latin typeface="Cinzel"/>
              </a:rPr>
              <a:t>PAUSE</a:t>
            </a:r>
          </a:p>
          <a:p>
            <a:pPr algn="l"/>
            <a:r>
              <a:rPr sz="1400" b="0" i="0">
                <a:solidFill>
                  <a:srgbClr val="F5EDDB"/>
                </a:solidFill>
                <a:latin typeface="Calibri"/>
              </a:rPr>
              <a:t>Boutique et coffres ; le gong relance.</a:t>
            </a:r>
          </a:p>
        </p:txBody>
      </p:sp>
      <p:pic>
        <p:nvPicPr>
          <p:cNvPr id="18" name="Flèche 4" descr="img016.png"/>
          <p:cNvPicPr>
            <a:picLocks noChangeAspect="1"/>
          </p:cNvPicPr>
          <p:nvPr/>
        </p:nvPicPr>
        <p:blipFill>
          <a:blip r:embed="rId5"/>
          <a:stretch>
            <a:fillRect/>
          </a:stretch>
        </p:blipFill>
        <p:spPr>
          <a:xfrm>
            <a:off x="9429658" y="2084832"/>
            <a:ext cx="219456" cy="219456"/>
          </a:xfrm>
          <a:prstGeom prst="rect">
            <a:avLst/>
          </a:prstGeom>
        </p:spPr>
      </p:pic>
      <p:pic>
        <p:nvPicPr>
          <p:cNvPr id="19" name="Étape 5" descr="img017.png"/>
          <p:cNvPicPr>
            <a:picLocks noChangeAspect="1"/>
          </p:cNvPicPr>
          <p:nvPr/>
        </p:nvPicPr>
        <p:blipFill>
          <a:blip r:embed="rId4"/>
          <a:stretch>
            <a:fillRect/>
          </a:stretch>
        </p:blipFill>
        <p:spPr>
          <a:xfrm>
            <a:off x="9731410" y="1463040"/>
            <a:ext cx="1911644" cy="1463040"/>
          </a:xfrm>
          <a:prstGeom prst="rect">
            <a:avLst/>
          </a:prstGeom>
        </p:spPr>
      </p:pic>
      <p:sp>
        <p:nvSpPr>
          <p:cNvPr id="20" name="Texte étape 5"/>
          <p:cNvSpPr txBox="1"/>
          <p:nvPr/>
        </p:nvSpPr>
        <p:spPr>
          <a:xfrm>
            <a:off x="9987442" y="1691640"/>
            <a:ext cx="1399580" cy="1051560"/>
          </a:xfrm>
          <a:prstGeom prst="rect">
            <a:avLst/>
          </a:prstGeom>
          <a:noFill/>
        </p:spPr>
        <p:txBody>
          <a:bodyPr wrap="square" lIns="0" tIns="0" rIns="0" bIns="0" anchor="t">
            <a:noAutofit/>
          </a:bodyPr>
          <a:lstStyle/>
          <a:p>
            <a:pPr algn="l">
              <a:spcAft>
                <a:spcPts val="600"/>
              </a:spcAft>
            </a:pPr>
            <a:r>
              <a:rPr sz="1300" b="0" i="0" spc="200">
                <a:solidFill>
                  <a:srgbClr val="FFCC61"/>
                </a:solidFill>
                <a:latin typeface="Cinzel"/>
              </a:rPr>
              <a:t>MK</a:t>
            </a:r>
          </a:p>
          <a:p>
            <a:pPr algn="l"/>
            <a:r>
              <a:rPr sz="1400" b="0" i="0">
                <a:solidFill>
                  <a:srgbClr val="F5EDDB"/>
                </a:solidFill>
                <a:latin typeface="Calibri"/>
              </a:rPr>
              <a:t>Vague 6 : le dragon, dans son antre.</a:t>
            </a:r>
          </a:p>
        </p:txBody>
      </p:sp>
      <p:pic>
        <p:nvPicPr>
          <p:cNvPr id="21" name="Fond vague" descr="img022.png"/>
          <p:cNvPicPr>
            <a:picLocks noChangeAspect="1"/>
          </p:cNvPicPr>
          <p:nvPr/>
        </p:nvPicPr>
        <p:blipFill>
          <a:blip r:embed="rId6"/>
          <a:stretch>
            <a:fillRect/>
          </a:stretch>
        </p:blipFill>
        <p:spPr>
          <a:xfrm>
            <a:off x="484632" y="3273552"/>
            <a:ext cx="3612794" cy="2088203"/>
          </a:xfrm>
          <a:prstGeom prst="rect">
            <a:avLst/>
          </a:prstGeom>
        </p:spPr>
      </p:pic>
      <p:sp>
        <p:nvSpPr>
          <p:cNvPr id="22" name="Attente vague"/>
          <p:cNvSpPr txBox="1"/>
          <p:nvPr/>
        </p:nvSpPr>
        <p:spPr>
          <a:xfrm>
            <a:off x="822959" y="3337560"/>
            <a:ext cx="2936138" cy="1960187"/>
          </a:xfrm>
          <a:prstGeom prst="rect">
            <a:avLst/>
          </a:prstGeom>
          <a:noFill/>
        </p:spPr>
        <p:txBody>
          <a:bodyPr wrap="square" lIns="0" tIns="0" rIns="0" bIns="0" anchor="ctr">
            <a:noAutofit/>
          </a:bodyPr>
          <a:lstStyle/>
          <a:p>
            <a:pPr algn="ctr">
              <a:spcAft>
                <a:spcPts val="400"/>
              </a:spcAft>
            </a:pPr>
            <a:r>
              <a:rPr sz="1100" b="0" i="0" spc="120">
                <a:solidFill>
                  <a:srgbClr val="A79FC4"/>
                </a:solidFill>
                <a:latin typeface="Cinzel"/>
              </a:rPr>
              <a:t>CAPTURE À VENIR</a:t>
            </a:r>
          </a:p>
          <a:p>
            <a:pPr algn="ctr">
              <a:spcAft>
                <a:spcPts val="200"/>
              </a:spcAft>
            </a:pPr>
            <a:r>
              <a:rPr sz="1200" b="0" i="0">
                <a:solidFill>
                  <a:srgbClr val="D1DBFF"/>
                </a:solidFill>
                <a:latin typeface="Calibri"/>
              </a:rPr>
              <a:t>captures/vague.png</a:t>
            </a:r>
          </a:p>
          <a:p>
            <a:pPr algn="ctr"/>
            <a:r>
              <a:rPr sz="1200" b="0" i="0">
                <a:solidFill>
                  <a:srgbClr val="A79FC4"/>
                </a:solidFill>
                <a:latin typeface="Calibri"/>
              </a:rPr>
              <a:t>des ennemis qui arrivent sur une voie</a:t>
            </a:r>
          </a:p>
        </p:txBody>
      </p:sp>
      <p:pic>
        <p:nvPicPr>
          <p:cNvPr id="23" name="Cadre vague" descr="img023.png"/>
          <p:cNvPicPr>
            <a:picLocks noChangeAspect="1"/>
          </p:cNvPicPr>
          <p:nvPr/>
        </p:nvPicPr>
        <p:blipFill>
          <a:blip r:embed="rId7"/>
          <a:stretch>
            <a:fillRect/>
          </a:stretch>
        </p:blipFill>
        <p:spPr>
          <a:xfrm>
            <a:off x="484632" y="3273552"/>
            <a:ext cx="3612794" cy="2088203"/>
          </a:xfrm>
          <a:prstGeom prst="rect">
            <a:avLst/>
          </a:prstGeom>
        </p:spPr>
      </p:pic>
      <p:sp>
        <p:nvSpPr>
          <p:cNvPr id="24" name="Légende vague"/>
          <p:cNvSpPr txBox="1"/>
          <p:nvPr/>
        </p:nvSpPr>
        <p:spPr>
          <a:xfrm>
            <a:off x="548640" y="5434907"/>
            <a:ext cx="3484778" cy="274320"/>
          </a:xfrm>
          <a:prstGeom prst="rect">
            <a:avLst/>
          </a:prstGeom>
          <a:noFill/>
        </p:spPr>
        <p:txBody>
          <a:bodyPr wrap="square" lIns="0" tIns="0" rIns="0" bIns="0" anchor="t">
            <a:noAutofit/>
          </a:bodyPr>
          <a:lstStyle/>
          <a:p>
            <a:pPr algn="l"/>
            <a:r>
              <a:rPr sz="1200" b="0" i="0">
                <a:solidFill>
                  <a:srgbClr val="A79FC4"/>
                </a:solidFill>
                <a:latin typeface="Calibri"/>
              </a:rPr>
              <a:t>Une vague arrive par la voie du milieu</a:t>
            </a:r>
          </a:p>
        </p:txBody>
      </p:sp>
      <p:pic>
        <p:nvPicPr>
          <p:cNvPr id="25" name="Fond boutique" descr="img022.png"/>
          <p:cNvPicPr>
            <a:picLocks noChangeAspect="1"/>
          </p:cNvPicPr>
          <p:nvPr/>
        </p:nvPicPr>
        <p:blipFill>
          <a:blip r:embed="rId6"/>
          <a:stretch>
            <a:fillRect/>
          </a:stretch>
        </p:blipFill>
        <p:spPr>
          <a:xfrm>
            <a:off x="4289450" y="3273552"/>
            <a:ext cx="3612794" cy="2088203"/>
          </a:xfrm>
          <a:prstGeom prst="rect">
            <a:avLst/>
          </a:prstGeom>
        </p:spPr>
      </p:pic>
      <p:sp>
        <p:nvSpPr>
          <p:cNvPr id="26" name="Attente boutique"/>
          <p:cNvSpPr txBox="1"/>
          <p:nvPr/>
        </p:nvSpPr>
        <p:spPr>
          <a:xfrm>
            <a:off x="4627778" y="3337560"/>
            <a:ext cx="2936138" cy="1960187"/>
          </a:xfrm>
          <a:prstGeom prst="rect">
            <a:avLst/>
          </a:prstGeom>
          <a:noFill/>
        </p:spPr>
        <p:txBody>
          <a:bodyPr wrap="square" lIns="0" tIns="0" rIns="0" bIns="0" anchor="ctr">
            <a:noAutofit/>
          </a:bodyPr>
          <a:lstStyle/>
          <a:p>
            <a:pPr algn="ctr">
              <a:spcAft>
                <a:spcPts val="400"/>
              </a:spcAft>
            </a:pPr>
            <a:r>
              <a:rPr sz="1100" b="0" i="0" spc="120">
                <a:solidFill>
                  <a:srgbClr val="A79FC4"/>
                </a:solidFill>
                <a:latin typeface="Cinzel"/>
              </a:rPr>
              <a:t>CAPTURE À VENIR</a:t>
            </a:r>
          </a:p>
          <a:p>
            <a:pPr algn="ctr">
              <a:spcAft>
                <a:spcPts val="200"/>
              </a:spcAft>
            </a:pPr>
            <a:r>
              <a:rPr sz="1200" b="0" i="0">
                <a:solidFill>
                  <a:srgbClr val="D1DBFF"/>
                </a:solidFill>
                <a:latin typeface="Calibri"/>
              </a:rPr>
              <a:t>captures/boutique.png</a:t>
            </a:r>
          </a:p>
          <a:p>
            <a:pPr algn="ctr"/>
            <a:r>
              <a:rPr sz="1200" b="0" i="0">
                <a:solidFill>
                  <a:srgbClr val="A79FC4"/>
                </a:solidFill>
                <a:latin typeface="Calibri"/>
              </a:rPr>
              <a:t>la boutique entre deux vagues</a:t>
            </a:r>
          </a:p>
        </p:txBody>
      </p:sp>
      <p:pic>
        <p:nvPicPr>
          <p:cNvPr id="27" name="Cadre boutique" descr="img023.png"/>
          <p:cNvPicPr>
            <a:picLocks noChangeAspect="1"/>
          </p:cNvPicPr>
          <p:nvPr/>
        </p:nvPicPr>
        <p:blipFill>
          <a:blip r:embed="rId7"/>
          <a:stretch>
            <a:fillRect/>
          </a:stretch>
        </p:blipFill>
        <p:spPr>
          <a:xfrm>
            <a:off x="4289450" y="3273552"/>
            <a:ext cx="3612794" cy="2088203"/>
          </a:xfrm>
          <a:prstGeom prst="rect">
            <a:avLst/>
          </a:prstGeom>
        </p:spPr>
      </p:pic>
      <p:sp>
        <p:nvSpPr>
          <p:cNvPr id="28" name="Légende boutique"/>
          <p:cNvSpPr txBox="1"/>
          <p:nvPr/>
        </p:nvSpPr>
        <p:spPr>
          <a:xfrm>
            <a:off x="4353458" y="5434907"/>
            <a:ext cx="3484778" cy="274320"/>
          </a:xfrm>
          <a:prstGeom prst="rect">
            <a:avLst/>
          </a:prstGeom>
          <a:noFill/>
        </p:spPr>
        <p:txBody>
          <a:bodyPr wrap="square" lIns="0" tIns="0" rIns="0" bIns="0" anchor="t">
            <a:noAutofit/>
          </a:bodyPr>
          <a:lstStyle/>
          <a:p>
            <a:pPr algn="l"/>
            <a:r>
              <a:rPr sz="1200" b="0" i="0">
                <a:solidFill>
                  <a:srgbClr val="A79FC4"/>
                </a:solidFill>
                <a:latin typeface="Calibri"/>
              </a:rPr>
              <a:t>La boutique, entre deux vagues</a:t>
            </a:r>
          </a:p>
        </p:txBody>
      </p:sp>
      <p:pic>
        <p:nvPicPr>
          <p:cNvPr id="29" name="Fond mk" descr="img022.png"/>
          <p:cNvPicPr>
            <a:picLocks noChangeAspect="1"/>
          </p:cNvPicPr>
          <p:nvPr/>
        </p:nvPicPr>
        <p:blipFill>
          <a:blip r:embed="rId6"/>
          <a:stretch>
            <a:fillRect/>
          </a:stretch>
        </p:blipFill>
        <p:spPr>
          <a:xfrm>
            <a:off x="8094268" y="3273552"/>
            <a:ext cx="3612794" cy="2088203"/>
          </a:xfrm>
          <a:prstGeom prst="rect">
            <a:avLst/>
          </a:prstGeom>
        </p:spPr>
      </p:pic>
      <p:sp>
        <p:nvSpPr>
          <p:cNvPr id="30" name="Attente mk"/>
          <p:cNvSpPr txBox="1"/>
          <p:nvPr/>
        </p:nvSpPr>
        <p:spPr>
          <a:xfrm>
            <a:off x="8432596" y="3337560"/>
            <a:ext cx="2936138" cy="1960187"/>
          </a:xfrm>
          <a:prstGeom prst="rect">
            <a:avLst/>
          </a:prstGeom>
          <a:noFill/>
        </p:spPr>
        <p:txBody>
          <a:bodyPr wrap="square" lIns="0" tIns="0" rIns="0" bIns="0" anchor="ctr">
            <a:noAutofit/>
          </a:bodyPr>
          <a:lstStyle/>
          <a:p>
            <a:pPr algn="ctr">
              <a:spcAft>
                <a:spcPts val="400"/>
              </a:spcAft>
            </a:pPr>
            <a:r>
              <a:rPr sz="1100" b="0" i="0" spc="120">
                <a:solidFill>
                  <a:srgbClr val="A79FC4"/>
                </a:solidFill>
                <a:latin typeface="Cinzel"/>
              </a:rPr>
              <a:t>CAPTURE À VENIR</a:t>
            </a:r>
          </a:p>
          <a:p>
            <a:pPr algn="ctr">
              <a:spcAft>
                <a:spcPts val="200"/>
              </a:spcAft>
            </a:pPr>
            <a:r>
              <a:rPr sz="1200" b="0" i="0">
                <a:solidFill>
                  <a:srgbClr val="D1DBFF"/>
                </a:solidFill>
                <a:latin typeface="Calibri"/>
              </a:rPr>
              <a:t>captures/mk.png</a:t>
            </a:r>
          </a:p>
          <a:p>
            <a:pPr algn="ctr"/>
            <a:r>
              <a:rPr sz="1200" b="0" i="0">
                <a:solidFill>
                  <a:srgbClr val="A79FC4"/>
                </a:solidFill>
                <a:latin typeface="Calibri"/>
              </a:rPr>
              <a:t>MK, le dragon, dans son antre</a:t>
            </a:r>
          </a:p>
        </p:txBody>
      </p:sp>
      <p:pic>
        <p:nvPicPr>
          <p:cNvPr id="31" name="Cadre mk" descr="img023.png"/>
          <p:cNvPicPr>
            <a:picLocks noChangeAspect="1"/>
          </p:cNvPicPr>
          <p:nvPr/>
        </p:nvPicPr>
        <p:blipFill>
          <a:blip r:embed="rId7"/>
          <a:stretch>
            <a:fillRect/>
          </a:stretch>
        </p:blipFill>
        <p:spPr>
          <a:xfrm>
            <a:off x="8094268" y="3273552"/>
            <a:ext cx="3612794" cy="2088203"/>
          </a:xfrm>
          <a:prstGeom prst="rect">
            <a:avLst/>
          </a:prstGeom>
        </p:spPr>
      </p:pic>
      <p:sp>
        <p:nvSpPr>
          <p:cNvPr id="32" name="Légende mk"/>
          <p:cNvSpPr txBox="1"/>
          <p:nvPr/>
        </p:nvSpPr>
        <p:spPr>
          <a:xfrm>
            <a:off x="8158276" y="5434907"/>
            <a:ext cx="3484778" cy="274320"/>
          </a:xfrm>
          <a:prstGeom prst="rect">
            <a:avLst/>
          </a:prstGeom>
          <a:noFill/>
        </p:spPr>
        <p:txBody>
          <a:bodyPr wrap="square" lIns="0" tIns="0" rIns="0" bIns="0" anchor="t">
            <a:noAutofit/>
          </a:bodyPr>
          <a:lstStyle/>
          <a:p>
            <a:pPr algn="l"/>
            <a:r>
              <a:rPr sz="1200" b="0" i="0">
                <a:solidFill>
                  <a:srgbClr val="A79FC4"/>
                </a:solidFill>
                <a:latin typeface="Calibri"/>
              </a:rPr>
              <a:t>MK, le boss final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ond" descr="img001.png"/>
          <p:cNvPicPr>
            <a:picLocks noChangeAspect="1"/>
          </p:cNvPicPr>
          <p:nvPr/>
        </p:nvPicPr>
        <p:blipFill>
          <a:blip r:embed="rId3"/>
          <a:stretch>
            <a:fillRect/>
          </a:stretch>
        </p:blipFill>
        <p:spPr>
          <a:xfrm>
            <a:off x="0" y="0"/>
            <a:ext cx="12191695" cy="6858000"/>
          </a:xfrm>
          <a:prstGeom prst="rect">
            <a:avLst/>
          </a:prstGeom>
        </p:spPr>
      </p:pic>
      <p:sp>
        <p:nvSpPr>
          <p:cNvPr id="3" name="Titre"/>
          <p:cNvSpPr txBox="1"/>
          <p:nvPr/>
        </p:nvSpPr>
        <p:spPr>
          <a:xfrm>
            <a:off x="548640" y="411480"/>
            <a:ext cx="9326880" cy="731520"/>
          </a:xfrm>
          <a:prstGeom prst="rect">
            <a:avLst/>
          </a:prstGeom>
          <a:noFill/>
        </p:spPr>
        <p:txBody>
          <a:bodyPr wrap="square" lIns="0" tIns="0" rIns="0" bIns="0" anchor="ctr">
            <a:noAutofit/>
          </a:bodyPr>
          <a:lstStyle/>
          <a:p>
            <a:pPr algn="l"/>
            <a:r>
              <a:rPr sz="3200" b="0"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inzel Decorative"/>
              </a:rPr>
              <a:t>Toutes les consignes sont dans le jeu</a:t>
            </a:r>
          </a:p>
        </p:txBody>
      </p:sp>
      <p:sp>
        <p:nvSpPr>
          <p:cNvPr id="4" name="Orateur"/>
          <p:cNvSpPr txBox="1"/>
          <p:nvPr/>
        </p:nvSpPr>
        <p:spPr>
          <a:xfrm>
            <a:off x="9509760" y="566928"/>
            <a:ext cx="2133295" cy="411480"/>
          </a:xfrm>
          <a:prstGeom prst="rect">
            <a:avLst/>
          </a:prstGeom>
          <a:noFill/>
        </p:spPr>
        <p:txBody>
          <a:bodyPr wrap="square" lIns="0" tIns="0" rIns="0" bIns="0" anchor="ctr">
            <a:noAutofit/>
          </a:bodyPr>
          <a:lstStyle/>
          <a:p>
            <a:pPr algn="r"/>
            <a:r>
              <a:rPr sz="1400" b="0" i="0" spc="250">
                <a:solidFill>
                  <a:srgbClr val="F259D9"/>
                </a:solidFill>
                <a:latin typeface="Cinzel"/>
              </a:rPr>
              <a:t>JUDE</a:t>
            </a:r>
          </a:p>
        </p:txBody>
      </p:sp>
      <p:sp>
        <p:nvSpPr>
          <p:cNvPr id="5" name="Pied"/>
          <p:cNvSpPr txBox="1"/>
          <p:nvPr/>
        </p:nvSpPr>
        <p:spPr>
          <a:xfrm>
            <a:off x="548640" y="6400800"/>
            <a:ext cx="2743200" cy="274320"/>
          </a:xfrm>
          <a:prstGeom prst="rect">
            <a:avLst/>
          </a:prstGeom>
          <a:noFill/>
        </p:spPr>
        <p:txBody>
          <a:bodyPr wrap="square" lIns="0" tIns="0" rIns="0" bIns="0" anchor="t">
            <a:noAutofit/>
          </a:bodyPr>
          <a:lstStyle/>
          <a:p>
            <a:pPr algn="l"/>
            <a:r>
              <a:rPr sz="1000" b="0" i="0" spc="200">
                <a:solidFill>
                  <a:srgbClr val="A79FC4"/>
                </a:solidFill>
                <a:latin typeface="Cinzel"/>
              </a:rPr>
              <a:t>THUNK VR</a:t>
            </a:r>
          </a:p>
        </p:txBody>
      </p:sp>
      <p:sp>
        <p:nvSpPr>
          <p:cNvPr id="6" name="Numéro"/>
          <p:cNvSpPr txBox="1"/>
          <p:nvPr/>
        </p:nvSpPr>
        <p:spPr>
          <a:xfrm>
            <a:off x="10271455" y="6400800"/>
            <a:ext cx="1371600" cy="274320"/>
          </a:xfrm>
          <a:prstGeom prst="rect">
            <a:avLst/>
          </a:prstGeom>
          <a:noFill/>
        </p:spPr>
        <p:txBody>
          <a:bodyPr wrap="square" lIns="0" tIns="0" rIns="0" bIns="0" anchor="t">
            <a:noAutofit/>
          </a:bodyPr>
          <a:lstStyle/>
          <a:p>
            <a:pPr algn="r"/>
            <a:r>
              <a:rPr sz="1100" b="0" i="0">
                <a:solidFill>
                  <a:srgbClr val="A79FC4"/>
                </a:solidFill>
                <a:latin typeface="Calibri"/>
              </a:rPr>
              <a:t>5 / 12</a:t>
            </a:r>
          </a:p>
        </p:txBody>
      </p:sp>
      <p:pic>
        <p:nvPicPr>
          <p:cNvPr id="7" name="Colonne 1" descr="img029.png"/>
          <p:cNvPicPr>
            <a:picLocks noChangeAspect="1"/>
          </p:cNvPicPr>
          <p:nvPr/>
        </p:nvPicPr>
        <p:blipFill>
          <a:blip r:embed="rId4"/>
          <a:stretch>
            <a:fillRect/>
          </a:stretch>
        </p:blipFill>
        <p:spPr>
          <a:xfrm>
            <a:off x="548640" y="1417320"/>
            <a:ext cx="5387187" cy="4754880"/>
          </a:xfrm>
          <a:prstGeom prst="rect">
            <a:avLst/>
          </a:prstGeom>
        </p:spPr>
      </p:pic>
      <p:pic>
        <p:nvPicPr>
          <p:cNvPr id="8" name="Coche 1" descr="img028.png"/>
          <p:cNvPicPr>
            <a:picLocks noChangeAspect="1"/>
          </p:cNvPicPr>
          <p:nvPr/>
        </p:nvPicPr>
        <p:blipFill>
          <a:blip r:embed="rId5"/>
          <a:stretch>
            <a:fillRect/>
          </a:stretch>
        </p:blipFill>
        <p:spPr>
          <a:xfrm>
            <a:off x="868680" y="1773936"/>
            <a:ext cx="237744" cy="237744"/>
          </a:xfrm>
          <a:prstGeom prst="rect">
            <a:avLst/>
          </a:prstGeom>
        </p:spPr>
      </p:pic>
      <p:sp>
        <p:nvSpPr>
          <p:cNvPr id="9" name="Consigne 1"/>
          <p:cNvSpPr txBox="1"/>
          <p:nvPr/>
        </p:nvSpPr>
        <p:spPr>
          <a:xfrm>
            <a:off x="1325880" y="1719072"/>
            <a:ext cx="4289907" cy="768096"/>
          </a:xfrm>
          <a:prstGeom prst="rect">
            <a:avLst/>
          </a:prstGeom>
          <a:noFill/>
        </p:spPr>
        <p:txBody>
          <a:bodyPr wrap="square" lIns="0" tIns="0" rIns="0" bIns="0" anchor="t">
            <a:noAutofit/>
          </a:bodyPr>
          <a:lstStyle/>
          <a:p>
            <a:pPr algn="l">
              <a:spcAft>
                <a:spcPts val="300"/>
              </a:spcAft>
            </a:pPr>
            <a:r>
              <a:rPr sz="1200" b="0" i="0" spc="120">
                <a:solidFill>
                  <a:srgbClr val="FFCC61"/>
                </a:solidFill>
                <a:latin typeface="Cinzel"/>
              </a:rPr>
              <a:t>INTERACTIONS XR NATURELLES</a:t>
            </a:r>
          </a:p>
          <a:p>
            <a:pPr algn="l"/>
            <a:r>
              <a:rPr sz="1500" b="0" i="0">
                <a:solidFill>
                  <a:srgbClr val="F5EDDB"/>
                </a:solidFill>
                <a:latin typeface="Calibri"/>
              </a:rPr>
              <a:t>Prendre la flèche dans son dos, l'encocher, tendre, lâcher.</a:t>
            </a:r>
          </a:p>
        </p:txBody>
      </p:sp>
      <p:pic>
        <p:nvPicPr>
          <p:cNvPr id="10" name="Coche 2" descr="img028.png"/>
          <p:cNvPicPr>
            <a:picLocks noChangeAspect="1"/>
          </p:cNvPicPr>
          <p:nvPr/>
        </p:nvPicPr>
        <p:blipFill>
          <a:blip r:embed="rId5"/>
          <a:stretch>
            <a:fillRect/>
          </a:stretch>
        </p:blipFill>
        <p:spPr>
          <a:xfrm>
            <a:off x="868680" y="2633472"/>
            <a:ext cx="237744" cy="237744"/>
          </a:xfrm>
          <a:prstGeom prst="rect">
            <a:avLst/>
          </a:prstGeom>
        </p:spPr>
      </p:pic>
      <p:sp>
        <p:nvSpPr>
          <p:cNvPr id="11" name="Consigne 2"/>
          <p:cNvSpPr txBox="1"/>
          <p:nvPr/>
        </p:nvSpPr>
        <p:spPr>
          <a:xfrm>
            <a:off x="1325880" y="2578608"/>
            <a:ext cx="4289907" cy="768096"/>
          </a:xfrm>
          <a:prstGeom prst="rect">
            <a:avLst/>
          </a:prstGeom>
          <a:noFill/>
        </p:spPr>
        <p:txBody>
          <a:bodyPr wrap="square" lIns="0" tIns="0" rIns="0" bIns="0" anchor="t">
            <a:noAutofit/>
          </a:bodyPr>
          <a:lstStyle/>
          <a:p>
            <a:pPr algn="l">
              <a:spcAft>
                <a:spcPts val="300"/>
              </a:spcAft>
            </a:pPr>
            <a:r>
              <a:rPr sz="1200" b="0" i="0" spc="120">
                <a:solidFill>
                  <a:srgbClr val="FFCC61"/>
                </a:solidFill>
                <a:latin typeface="Cinzel"/>
              </a:rPr>
              <a:t>TRAJECTOIRE PHYSIQUE</a:t>
            </a:r>
          </a:p>
          <a:p>
            <a:pPr algn="l"/>
            <a:r>
              <a:rPr sz="1500" b="0" i="0">
                <a:solidFill>
                  <a:srgbClr val="F5EDDB"/>
                </a:solidFill>
                <a:latin typeface="Calibri"/>
              </a:rPr>
              <a:t>La gravité ; la portée dépend de la tension et du timing.</a:t>
            </a:r>
          </a:p>
        </p:txBody>
      </p:sp>
      <p:pic>
        <p:nvPicPr>
          <p:cNvPr id="12" name="Coche 3" descr="img028.png"/>
          <p:cNvPicPr>
            <a:picLocks noChangeAspect="1"/>
          </p:cNvPicPr>
          <p:nvPr/>
        </p:nvPicPr>
        <p:blipFill>
          <a:blip r:embed="rId5"/>
          <a:stretch>
            <a:fillRect/>
          </a:stretch>
        </p:blipFill>
        <p:spPr>
          <a:xfrm>
            <a:off x="868680" y="3493008"/>
            <a:ext cx="237744" cy="237744"/>
          </a:xfrm>
          <a:prstGeom prst="rect">
            <a:avLst/>
          </a:prstGeom>
        </p:spPr>
      </p:pic>
      <p:sp>
        <p:nvSpPr>
          <p:cNvPr id="13" name="Consigne 3"/>
          <p:cNvSpPr txBox="1"/>
          <p:nvPr/>
        </p:nvSpPr>
        <p:spPr>
          <a:xfrm>
            <a:off x="1325880" y="3438144"/>
            <a:ext cx="4289907" cy="768096"/>
          </a:xfrm>
          <a:prstGeom prst="rect">
            <a:avLst/>
          </a:prstGeom>
          <a:noFill/>
        </p:spPr>
        <p:txBody>
          <a:bodyPr wrap="square" lIns="0" tIns="0" rIns="0" bIns="0" anchor="t">
            <a:noAutofit/>
          </a:bodyPr>
          <a:lstStyle/>
          <a:p>
            <a:pPr algn="l">
              <a:spcAft>
                <a:spcPts val="300"/>
              </a:spcAft>
            </a:pPr>
            <a:r>
              <a:rPr sz="1200" b="0" i="0" spc="120">
                <a:solidFill>
                  <a:srgbClr val="FFCC61"/>
                </a:solidFill>
                <a:latin typeface="Cinzel"/>
              </a:rPr>
              <a:t>PLUSIEURS ARCS ET FLÈCHES</a:t>
            </a:r>
          </a:p>
          <a:p>
            <a:pPr algn="l"/>
            <a:r>
              <a:rPr sz="1500" b="0" i="0">
                <a:solidFill>
                  <a:srgbClr val="F5EDDB"/>
                </a:solidFill>
                <a:latin typeface="Calibri"/>
              </a:rPr>
              <a:t>8 armes ; flèches de foudre, de glace, explosives, ricochet…</a:t>
            </a:r>
          </a:p>
        </p:txBody>
      </p:sp>
      <p:pic>
        <p:nvPicPr>
          <p:cNvPr id="14" name="Coche 4" descr="img028.png"/>
          <p:cNvPicPr>
            <a:picLocks noChangeAspect="1"/>
          </p:cNvPicPr>
          <p:nvPr/>
        </p:nvPicPr>
        <p:blipFill>
          <a:blip r:embed="rId5"/>
          <a:stretch>
            <a:fillRect/>
          </a:stretch>
        </p:blipFill>
        <p:spPr>
          <a:xfrm>
            <a:off x="868680" y="4352544"/>
            <a:ext cx="237744" cy="237744"/>
          </a:xfrm>
          <a:prstGeom prst="rect">
            <a:avLst/>
          </a:prstGeom>
        </p:spPr>
      </p:pic>
      <p:sp>
        <p:nvSpPr>
          <p:cNvPr id="15" name="Consigne 4"/>
          <p:cNvSpPr txBox="1"/>
          <p:nvPr/>
        </p:nvSpPr>
        <p:spPr>
          <a:xfrm>
            <a:off x="1325880" y="4297680"/>
            <a:ext cx="4289907" cy="768096"/>
          </a:xfrm>
          <a:prstGeom prst="rect">
            <a:avLst/>
          </a:prstGeom>
          <a:noFill/>
        </p:spPr>
        <p:txBody>
          <a:bodyPr wrap="square" lIns="0" tIns="0" rIns="0" bIns="0" anchor="t">
            <a:noAutofit/>
          </a:bodyPr>
          <a:lstStyle/>
          <a:p>
            <a:pPr algn="l">
              <a:spcAft>
                <a:spcPts val="300"/>
              </a:spcAft>
            </a:pPr>
            <a:r>
              <a:rPr sz="1200" b="0" i="0" spc="120">
                <a:solidFill>
                  <a:srgbClr val="FFCC61"/>
                </a:solidFill>
                <a:latin typeface="Cinzel"/>
              </a:rPr>
              <a:t>AMÉLIORATIONS ENTRE LES NIVEAUX</a:t>
            </a:r>
          </a:p>
          <a:p>
            <a:pPr algn="l"/>
            <a:r>
              <a:rPr sz="1500" b="0" i="0">
                <a:solidFill>
                  <a:srgbClr val="F5EDDB"/>
                </a:solidFill>
                <a:latin typeface="Calibri"/>
              </a:rPr>
              <a:t>Une boutique entre les vagues : 23 améliorations, 3 raretés.</a:t>
            </a:r>
          </a:p>
        </p:txBody>
      </p:sp>
      <p:pic>
        <p:nvPicPr>
          <p:cNvPr id="16" name="Coche 5" descr="img028.png"/>
          <p:cNvPicPr>
            <a:picLocks noChangeAspect="1"/>
          </p:cNvPicPr>
          <p:nvPr/>
        </p:nvPicPr>
        <p:blipFill>
          <a:blip r:embed="rId5"/>
          <a:stretch>
            <a:fillRect/>
          </a:stretch>
        </p:blipFill>
        <p:spPr>
          <a:xfrm>
            <a:off x="868680" y="5212080"/>
            <a:ext cx="237744" cy="237744"/>
          </a:xfrm>
          <a:prstGeom prst="rect">
            <a:avLst/>
          </a:prstGeom>
        </p:spPr>
      </p:pic>
      <p:sp>
        <p:nvSpPr>
          <p:cNvPr id="17" name="Consigne 5"/>
          <p:cNvSpPr txBox="1"/>
          <p:nvPr/>
        </p:nvSpPr>
        <p:spPr>
          <a:xfrm>
            <a:off x="1325880" y="5157216"/>
            <a:ext cx="4289907" cy="768096"/>
          </a:xfrm>
          <a:prstGeom prst="rect">
            <a:avLst/>
          </a:prstGeom>
          <a:noFill/>
        </p:spPr>
        <p:txBody>
          <a:bodyPr wrap="square" lIns="0" tIns="0" rIns="0" bIns="0" anchor="t">
            <a:noAutofit/>
          </a:bodyPr>
          <a:lstStyle/>
          <a:p>
            <a:pPr algn="l">
              <a:spcAft>
                <a:spcPts val="300"/>
              </a:spcAft>
            </a:pPr>
            <a:r>
              <a:rPr sz="1200" b="0" i="0" spc="120">
                <a:solidFill>
                  <a:srgbClr val="FFCC61"/>
                </a:solidFill>
                <a:latin typeface="Cinzel"/>
              </a:rPr>
              <a:t>ZONES DE SCORE, SCORE EN DIRECT</a:t>
            </a:r>
          </a:p>
          <a:p>
            <a:pPr algn="l"/>
            <a:r>
              <a:rPr sz="1500" b="0" i="0">
                <a:solidFill>
                  <a:srgbClr val="F5EDDB"/>
                </a:solidFill>
                <a:latin typeface="Calibri"/>
              </a:rPr>
              <a:t>Tête, corps, points faibles ; score et combo sur la montre.</a:t>
            </a:r>
          </a:p>
        </p:txBody>
      </p:sp>
      <p:pic>
        <p:nvPicPr>
          <p:cNvPr id="18" name="Colonne 2" descr="img029.png"/>
          <p:cNvPicPr>
            <a:picLocks noChangeAspect="1"/>
          </p:cNvPicPr>
          <p:nvPr/>
        </p:nvPicPr>
        <p:blipFill>
          <a:blip r:embed="rId4"/>
          <a:stretch>
            <a:fillRect/>
          </a:stretch>
        </p:blipFill>
        <p:spPr>
          <a:xfrm>
            <a:off x="6255867" y="1417320"/>
            <a:ext cx="5387187" cy="4754880"/>
          </a:xfrm>
          <a:prstGeom prst="rect">
            <a:avLst/>
          </a:prstGeom>
        </p:spPr>
      </p:pic>
      <p:pic>
        <p:nvPicPr>
          <p:cNvPr id="19" name="Coche 6" descr="img028.png"/>
          <p:cNvPicPr>
            <a:picLocks noChangeAspect="1"/>
          </p:cNvPicPr>
          <p:nvPr/>
        </p:nvPicPr>
        <p:blipFill>
          <a:blip r:embed="rId5"/>
          <a:stretch>
            <a:fillRect/>
          </a:stretch>
        </p:blipFill>
        <p:spPr>
          <a:xfrm>
            <a:off x="6575907" y="1773936"/>
            <a:ext cx="237744" cy="237744"/>
          </a:xfrm>
          <a:prstGeom prst="rect">
            <a:avLst/>
          </a:prstGeom>
        </p:spPr>
      </p:pic>
      <p:sp>
        <p:nvSpPr>
          <p:cNvPr id="20" name="Consigne 6"/>
          <p:cNvSpPr txBox="1"/>
          <p:nvPr/>
        </p:nvSpPr>
        <p:spPr>
          <a:xfrm>
            <a:off x="7033107" y="1719072"/>
            <a:ext cx="4289907" cy="768096"/>
          </a:xfrm>
          <a:prstGeom prst="rect">
            <a:avLst/>
          </a:prstGeom>
          <a:noFill/>
        </p:spPr>
        <p:txBody>
          <a:bodyPr wrap="square" lIns="0" tIns="0" rIns="0" bIns="0" anchor="t">
            <a:noAutofit/>
          </a:bodyPr>
          <a:lstStyle/>
          <a:p>
            <a:pPr algn="l">
              <a:spcAft>
                <a:spcPts val="300"/>
              </a:spcAft>
            </a:pPr>
            <a:r>
              <a:rPr sz="1200" b="0" i="0" spc="120">
                <a:solidFill>
                  <a:srgbClr val="FFCC61"/>
                </a:solidFill>
                <a:latin typeface="Cinzel"/>
              </a:rPr>
              <a:t>NIVEAUX DE DIFFICULTÉ</a:t>
            </a:r>
          </a:p>
          <a:p>
            <a:pPr algn="l"/>
            <a:r>
              <a:rPr sz="1500" b="0" i="0">
                <a:solidFill>
                  <a:srgbClr val="F5EDDB"/>
                </a:solidFill>
                <a:latin typeface="Calibri"/>
              </a:rPr>
              <a:t>Facile, Normal, Difficile, Impossible, chacun avec son ciel.</a:t>
            </a:r>
          </a:p>
        </p:txBody>
      </p:sp>
      <p:pic>
        <p:nvPicPr>
          <p:cNvPr id="21" name="Coche 7" descr="img028.png"/>
          <p:cNvPicPr>
            <a:picLocks noChangeAspect="1"/>
          </p:cNvPicPr>
          <p:nvPr/>
        </p:nvPicPr>
        <p:blipFill>
          <a:blip r:embed="rId5"/>
          <a:stretch>
            <a:fillRect/>
          </a:stretch>
        </p:blipFill>
        <p:spPr>
          <a:xfrm>
            <a:off x="6575907" y="2633472"/>
            <a:ext cx="237744" cy="237744"/>
          </a:xfrm>
          <a:prstGeom prst="rect">
            <a:avLst/>
          </a:prstGeom>
        </p:spPr>
      </p:pic>
      <p:sp>
        <p:nvSpPr>
          <p:cNvPr id="22" name="Consigne 7"/>
          <p:cNvSpPr txBox="1"/>
          <p:nvPr/>
        </p:nvSpPr>
        <p:spPr>
          <a:xfrm>
            <a:off x="7033107" y="2578608"/>
            <a:ext cx="4289907" cy="768096"/>
          </a:xfrm>
          <a:prstGeom prst="rect">
            <a:avLst/>
          </a:prstGeom>
          <a:noFill/>
        </p:spPr>
        <p:txBody>
          <a:bodyPr wrap="square" lIns="0" tIns="0" rIns="0" bIns="0" anchor="t">
            <a:noAutofit/>
          </a:bodyPr>
          <a:lstStyle/>
          <a:p>
            <a:pPr algn="l">
              <a:spcAft>
                <a:spcPts val="300"/>
              </a:spcAft>
            </a:pPr>
            <a:r>
              <a:rPr sz="1200" b="0" i="0" spc="120">
                <a:solidFill>
                  <a:srgbClr val="FFCC61"/>
                </a:solidFill>
                <a:latin typeface="Cinzel"/>
              </a:rPr>
              <a:t>MODE ENTRAÎNEMENT</a:t>
            </a:r>
          </a:p>
          <a:p>
            <a:pPr algn="l"/>
            <a:r>
              <a:rPr sz="1500" b="0" i="0">
                <a:solidFill>
                  <a:srgbClr val="F5EDDB"/>
                </a:solidFill>
                <a:latin typeface="Calibri"/>
              </a:rPr>
              <a:t>Des cibles, dont une mobile, au menu et pendant les pauses.</a:t>
            </a:r>
          </a:p>
        </p:txBody>
      </p:sp>
      <p:pic>
        <p:nvPicPr>
          <p:cNvPr id="23" name="Coche 8" descr="img028.png"/>
          <p:cNvPicPr>
            <a:picLocks noChangeAspect="1"/>
          </p:cNvPicPr>
          <p:nvPr/>
        </p:nvPicPr>
        <p:blipFill>
          <a:blip r:embed="rId5"/>
          <a:stretch>
            <a:fillRect/>
          </a:stretch>
        </p:blipFill>
        <p:spPr>
          <a:xfrm>
            <a:off x="6575907" y="3493008"/>
            <a:ext cx="237744" cy="237744"/>
          </a:xfrm>
          <a:prstGeom prst="rect">
            <a:avLst/>
          </a:prstGeom>
        </p:spPr>
      </p:pic>
      <p:sp>
        <p:nvSpPr>
          <p:cNvPr id="24" name="Consigne 8"/>
          <p:cNvSpPr txBox="1"/>
          <p:nvPr/>
        </p:nvSpPr>
        <p:spPr>
          <a:xfrm>
            <a:off x="7033107" y="3438144"/>
            <a:ext cx="4289907" cy="768096"/>
          </a:xfrm>
          <a:prstGeom prst="rect">
            <a:avLst/>
          </a:prstGeom>
          <a:noFill/>
        </p:spPr>
        <p:txBody>
          <a:bodyPr wrap="square" lIns="0" tIns="0" rIns="0" bIns="0" anchor="t">
            <a:noAutofit/>
          </a:bodyPr>
          <a:lstStyle/>
          <a:p>
            <a:pPr algn="l">
              <a:spcAft>
                <a:spcPts val="300"/>
              </a:spcAft>
            </a:pPr>
            <a:r>
              <a:rPr sz="1200" b="0" i="0" spc="120">
                <a:solidFill>
                  <a:srgbClr val="FFCC61"/>
                </a:solidFill>
                <a:latin typeface="Cinzel"/>
              </a:rPr>
              <a:t>MENUS ET PARAMÈTRES</a:t>
            </a:r>
          </a:p>
          <a:p>
            <a:pPr algn="l"/>
            <a:r>
              <a:rPr sz="1500" b="0" i="0">
                <a:solidFill>
                  <a:srgbClr val="F5EDDB"/>
                </a:solidFill>
                <a:latin typeface="Calibri"/>
              </a:rPr>
              <a:t>Menus dans le décor, tutoriel en vidéos, réglages de confort.</a:t>
            </a:r>
          </a:p>
        </p:txBody>
      </p:sp>
      <p:pic>
        <p:nvPicPr>
          <p:cNvPr id="25" name="Coche 9" descr="img028.png"/>
          <p:cNvPicPr>
            <a:picLocks noChangeAspect="1"/>
          </p:cNvPicPr>
          <p:nvPr/>
        </p:nvPicPr>
        <p:blipFill>
          <a:blip r:embed="rId5"/>
          <a:stretch>
            <a:fillRect/>
          </a:stretch>
        </p:blipFill>
        <p:spPr>
          <a:xfrm>
            <a:off x="6575907" y="4352544"/>
            <a:ext cx="237744" cy="237744"/>
          </a:xfrm>
          <a:prstGeom prst="rect">
            <a:avLst/>
          </a:prstGeom>
        </p:spPr>
      </p:pic>
      <p:sp>
        <p:nvSpPr>
          <p:cNvPr id="26" name="Consigne 9"/>
          <p:cNvSpPr txBox="1"/>
          <p:nvPr/>
        </p:nvSpPr>
        <p:spPr>
          <a:xfrm>
            <a:off x="7033107" y="4297680"/>
            <a:ext cx="4289907" cy="768096"/>
          </a:xfrm>
          <a:prstGeom prst="rect">
            <a:avLst/>
          </a:prstGeom>
          <a:noFill/>
        </p:spPr>
        <p:txBody>
          <a:bodyPr wrap="square" lIns="0" tIns="0" rIns="0" bIns="0" anchor="t">
            <a:noAutofit/>
          </a:bodyPr>
          <a:lstStyle/>
          <a:p>
            <a:pPr algn="l">
              <a:spcAft>
                <a:spcPts val="300"/>
              </a:spcAft>
            </a:pPr>
            <a:r>
              <a:rPr sz="1200" b="0" i="0" spc="120">
                <a:solidFill>
                  <a:srgbClr val="FFCC61"/>
                </a:solidFill>
                <a:latin typeface="Cinzel"/>
              </a:rPr>
              <a:t>CLAVIER, SAUVEGARDE, CLASSEMENT</a:t>
            </a:r>
          </a:p>
          <a:p>
            <a:pPr algn="l"/>
            <a:r>
              <a:rPr sz="1500" b="0" i="0">
                <a:solidFill>
                  <a:srgbClr val="F5EDDB"/>
                </a:solidFill>
                <a:latin typeface="Calibri"/>
              </a:rPr>
              <a:t>Nom au clavier virtuel d'XRI ; classement en JSON.</a:t>
            </a:r>
          </a:p>
        </p:txBody>
      </p:sp>
      <p:pic>
        <p:nvPicPr>
          <p:cNvPr id="27" name="Coche 10" descr="img028.png"/>
          <p:cNvPicPr>
            <a:picLocks noChangeAspect="1"/>
          </p:cNvPicPr>
          <p:nvPr/>
        </p:nvPicPr>
        <p:blipFill>
          <a:blip r:embed="rId5"/>
          <a:stretch>
            <a:fillRect/>
          </a:stretch>
        </p:blipFill>
        <p:spPr>
          <a:xfrm>
            <a:off x="6575907" y="5212080"/>
            <a:ext cx="237744" cy="237744"/>
          </a:xfrm>
          <a:prstGeom prst="rect">
            <a:avLst/>
          </a:prstGeom>
        </p:spPr>
      </p:pic>
      <p:sp>
        <p:nvSpPr>
          <p:cNvPr id="28" name="Consigne 10"/>
          <p:cNvSpPr txBox="1"/>
          <p:nvPr/>
        </p:nvSpPr>
        <p:spPr>
          <a:xfrm>
            <a:off x="7033107" y="5157216"/>
            <a:ext cx="4289907" cy="768096"/>
          </a:xfrm>
          <a:prstGeom prst="rect">
            <a:avLst/>
          </a:prstGeom>
          <a:noFill/>
        </p:spPr>
        <p:txBody>
          <a:bodyPr wrap="square" lIns="0" tIns="0" rIns="0" bIns="0" anchor="t">
            <a:noAutofit/>
          </a:bodyPr>
          <a:lstStyle/>
          <a:p>
            <a:pPr algn="l">
              <a:spcAft>
                <a:spcPts val="300"/>
              </a:spcAft>
            </a:pPr>
            <a:r>
              <a:rPr sz="1200" b="0" i="0" spc="120">
                <a:solidFill>
                  <a:srgbClr val="FFCC61"/>
                </a:solidFill>
                <a:latin typeface="Cinzel"/>
              </a:rPr>
              <a:t>SONS 3D</a:t>
            </a:r>
          </a:p>
          <a:p>
            <a:pPr algn="l"/>
            <a:r>
              <a:rPr sz="1500" b="0" i="0">
                <a:solidFill>
                  <a:srgbClr val="F5EDDB"/>
                </a:solidFill>
                <a:latin typeface="Calibri"/>
              </a:rPr>
              <a:t>Sons spatialisés, ambiances de jour et de nuit, musiques.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ond" descr="img001.png"/>
          <p:cNvPicPr>
            <a:picLocks noChangeAspect="1"/>
          </p:cNvPicPr>
          <p:nvPr/>
        </p:nvPicPr>
        <p:blipFill>
          <a:blip r:embed="rId3"/>
          <a:stretch>
            <a:fillRect/>
          </a:stretch>
        </p:blipFill>
        <p:spPr>
          <a:xfrm>
            <a:off x="0" y="0"/>
            <a:ext cx="12191695" cy="6858000"/>
          </a:xfrm>
          <a:prstGeom prst="rect">
            <a:avLst/>
          </a:prstGeom>
        </p:spPr>
      </p:pic>
      <p:sp>
        <p:nvSpPr>
          <p:cNvPr id="3" name="Titre"/>
          <p:cNvSpPr txBox="1"/>
          <p:nvPr/>
        </p:nvSpPr>
        <p:spPr>
          <a:xfrm>
            <a:off x="548640" y="411480"/>
            <a:ext cx="9326880" cy="731520"/>
          </a:xfrm>
          <a:prstGeom prst="rect">
            <a:avLst/>
          </a:prstGeom>
          <a:noFill/>
        </p:spPr>
        <p:txBody>
          <a:bodyPr wrap="square" lIns="0" tIns="0" rIns="0" bIns="0" anchor="ctr">
            <a:noAutofit/>
          </a:bodyPr>
          <a:lstStyle/>
          <a:p>
            <a:pPr algn="l"/>
            <a:r>
              <a:rPr sz="3200" b="0"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inzel Decorative"/>
              </a:rPr>
              <a:t>Et tout ce qu'on a ajouté</a:t>
            </a:r>
          </a:p>
        </p:txBody>
      </p:sp>
      <p:sp>
        <p:nvSpPr>
          <p:cNvPr id="4" name="Orateur"/>
          <p:cNvSpPr txBox="1"/>
          <p:nvPr/>
        </p:nvSpPr>
        <p:spPr>
          <a:xfrm>
            <a:off x="9509760" y="566928"/>
            <a:ext cx="2133295" cy="411480"/>
          </a:xfrm>
          <a:prstGeom prst="rect">
            <a:avLst/>
          </a:prstGeom>
          <a:noFill/>
        </p:spPr>
        <p:txBody>
          <a:bodyPr wrap="square" lIns="0" tIns="0" rIns="0" bIns="0" anchor="ctr">
            <a:noAutofit/>
          </a:bodyPr>
          <a:lstStyle/>
          <a:p>
            <a:pPr algn="r"/>
            <a:r>
              <a:rPr sz="1400" b="0" i="0" spc="250">
                <a:solidFill>
                  <a:srgbClr val="F259D9"/>
                </a:solidFill>
                <a:latin typeface="Cinzel"/>
              </a:rPr>
              <a:t>JUDE</a:t>
            </a:r>
          </a:p>
        </p:txBody>
      </p:sp>
      <p:sp>
        <p:nvSpPr>
          <p:cNvPr id="5" name="Pied"/>
          <p:cNvSpPr txBox="1"/>
          <p:nvPr/>
        </p:nvSpPr>
        <p:spPr>
          <a:xfrm>
            <a:off x="548640" y="6400800"/>
            <a:ext cx="2743200" cy="274320"/>
          </a:xfrm>
          <a:prstGeom prst="rect">
            <a:avLst/>
          </a:prstGeom>
          <a:noFill/>
        </p:spPr>
        <p:txBody>
          <a:bodyPr wrap="square" lIns="0" tIns="0" rIns="0" bIns="0" anchor="t">
            <a:noAutofit/>
          </a:bodyPr>
          <a:lstStyle/>
          <a:p>
            <a:pPr algn="l"/>
            <a:r>
              <a:rPr sz="1000" b="0" i="0" spc="200">
                <a:solidFill>
                  <a:srgbClr val="A79FC4"/>
                </a:solidFill>
                <a:latin typeface="Cinzel"/>
              </a:rPr>
              <a:t>THUNK VR</a:t>
            </a:r>
          </a:p>
        </p:txBody>
      </p:sp>
      <p:sp>
        <p:nvSpPr>
          <p:cNvPr id="6" name="Numéro"/>
          <p:cNvSpPr txBox="1"/>
          <p:nvPr/>
        </p:nvSpPr>
        <p:spPr>
          <a:xfrm>
            <a:off x="10271455" y="6400800"/>
            <a:ext cx="1371600" cy="274320"/>
          </a:xfrm>
          <a:prstGeom prst="rect">
            <a:avLst/>
          </a:prstGeom>
          <a:noFill/>
        </p:spPr>
        <p:txBody>
          <a:bodyPr wrap="square" lIns="0" tIns="0" rIns="0" bIns="0" anchor="t">
            <a:noAutofit/>
          </a:bodyPr>
          <a:lstStyle/>
          <a:p>
            <a:pPr algn="r"/>
            <a:r>
              <a:rPr sz="1100" b="0" i="0">
                <a:solidFill>
                  <a:srgbClr val="A79FC4"/>
                </a:solidFill>
                <a:latin typeface="Calibri"/>
              </a:rPr>
              <a:t>6 / 12</a:t>
            </a:r>
          </a:p>
        </p:txBody>
      </p:sp>
      <p:pic>
        <p:nvPicPr>
          <p:cNvPr id="7" name="Fond construction" descr="img031.png"/>
          <p:cNvPicPr>
            <a:picLocks noChangeAspect="1"/>
          </p:cNvPicPr>
          <p:nvPr/>
        </p:nvPicPr>
        <p:blipFill>
          <a:blip r:embed="rId4"/>
          <a:stretch>
            <a:fillRect/>
          </a:stretch>
        </p:blipFill>
        <p:spPr>
          <a:xfrm>
            <a:off x="484632" y="1399032"/>
            <a:ext cx="2682163" cy="1564724"/>
          </a:xfrm>
          <a:prstGeom prst="rect">
            <a:avLst/>
          </a:prstGeom>
        </p:spPr>
      </p:pic>
      <p:sp>
        <p:nvSpPr>
          <p:cNvPr id="8" name="Attente construction"/>
          <p:cNvSpPr txBox="1"/>
          <p:nvPr/>
        </p:nvSpPr>
        <p:spPr>
          <a:xfrm>
            <a:off x="822959" y="1463040"/>
            <a:ext cx="2005507" cy="1436708"/>
          </a:xfrm>
          <a:prstGeom prst="rect">
            <a:avLst/>
          </a:prstGeom>
          <a:noFill/>
        </p:spPr>
        <p:txBody>
          <a:bodyPr wrap="square" lIns="0" tIns="0" rIns="0" bIns="0" anchor="ctr">
            <a:noAutofit/>
          </a:bodyPr>
          <a:lstStyle/>
          <a:p>
            <a:pPr algn="ctr">
              <a:spcAft>
                <a:spcPts val="400"/>
              </a:spcAft>
            </a:pPr>
            <a:r>
              <a:rPr sz="1100" b="0" i="0" spc="120">
                <a:solidFill>
                  <a:srgbClr val="A79FC4"/>
                </a:solidFill>
                <a:latin typeface="Cinzel"/>
              </a:rPr>
              <a:t>CAPTURE À VENIR</a:t>
            </a:r>
          </a:p>
          <a:p>
            <a:pPr algn="ctr">
              <a:spcAft>
                <a:spcPts val="200"/>
              </a:spcAft>
            </a:pPr>
            <a:r>
              <a:rPr sz="1200" b="0" i="0">
                <a:solidFill>
                  <a:srgbClr val="D1DBFF"/>
                </a:solidFill>
                <a:latin typeface="Calibri"/>
              </a:rPr>
              <a:t>captures/construction.png</a:t>
            </a:r>
          </a:p>
          <a:p>
            <a:pPr algn="ctr"/>
            <a:r>
              <a:rPr sz="1200" b="0" i="0">
                <a:solidFill>
                  <a:srgbClr val="A79FC4"/>
                </a:solidFill>
                <a:latin typeface="Calibri"/>
              </a:rPr>
              <a:t>une baliste ou un plan bleu, avec le marteau</a:t>
            </a:r>
          </a:p>
        </p:txBody>
      </p:sp>
      <p:pic>
        <p:nvPicPr>
          <p:cNvPr id="9" name="Cadre construction" descr="img032.png"/>
          <p:cNvPicPr>
            <a:picLocks noChangeAspect="1"/>
          </p:cNvPicPr>
          <p:nvPr/>
        </p:nvPicPr>
        <p:blipFill>
          <a:blip r:embed="rId5"/>
          <a:stretch>
            <a:fillRect/>
          </a:stretch>
        </p:blipFill>
        <p:spPr>
          <a:xfrm>
            <a:off x="484632" y="1399032"/>
            <a:ext cx="2682163" cy="1564724"/>
          </a:xfrm>
          <a:prstGeom prst="rect">
            <a:avLst/>
          </a:prstGeom>
        </p:spPr>
      </p:pic>
      <p:sp>
        <p:nvSpPr>
          <p:cNvPr id="10" name="Ajout 1"/>
          <p:cNvSpPr txBox="1"/>
          <p:nvPr/>
        </p:nvSpPr>
        <p:spPr>
          <a:xfrm>
            <a:off x="548640" y="3155780"/>
            <a:ext cx="2554147" cy="1463040"/>
          </a:xfrm>
          <a:prstGeom prst="rect">
            <a:avLst/>
          </a:prstGeom>
          <a:noFill/>
        </p:spPr>
        <p:txBody>
          <a:bodyPr wrap="square" lIns="0" tIns="0" rIns="0" bIns="0" anchor="t">
            <a:noAutofit/>
          </a:bodyPr>
          <a:lstStyle/>
          <a:p>
            <a:pPr algn="l">
              <a:spcAft>
                <a:spcPts val="500"/>
              </a:spcAft>
            </a:pPr>
            <a:r>
              <a:rPr sz="1200" b="0" i="0" spc="150">
                <a:solidFill>
                  <a:srgbClr val="FFCC61"/>
                </a:solidFill>
                <a:latin typeface="Cinzel"/>
              </a:rPr>
              <a:t>CONSTRUIRE AU MARTEAU</a:t>
            </a:r>
          </a:p>
          <a:p>
            <a:pPr algn="l"/>
            <a:r>
              <a:rPr sz="1500" b="0" i="0">
                <a:solidFill>
                  <a:srgbClr val="F5EDDB"/>
                </a:solidFill>
                <a:latin typeface="Calibri"/>
              </a:rPr>
              <a:t>12 socles : barricades, piques, tours de givre et balistes, à 3 niveaux.</a:t>
            </a:r>
          </a:p>
        </p:txBody>
      </p:sp>
      <p:pic>
        <p:nvPicPr>
          <p:cNvPr id="11" name="Fond armes" descr="img031.png"/>
          <p:cNvPicPr>
            <a:picLocks noChangeAspect="1"/>
          </p:cNvPicPr>
          <p:nvPr/>
        </p:nvPicPr>
        <p:blipFill>
          <a:blip r:embed="rId4"/>
          <a:stretch>
            <a:fillRect/>
          </a:stretch>
        </p:blipFill>
        <p:spPr>
          <a:xfrm>
            <a:off x="3331387" y="1399032"/>
            <a:ext cx="2682163" cy="1564724"/>
          </a:xfrm>
          <a:prstGeom prst="rect">
            <a:avLst/>
          </a:prstGeom>
        </p:spPr>
      </p:pic>
      <p:sp>
        <p:nvSpPr>
          <p:cNvPr id="12" name="Attente armes"/>
          <p:cNvSpPr txBox="1"/>
          <p:nvPr/>
        </p:nvSpPr>
        <p:spPr>
          <a:xfrm>
            <a:off x="3669715" y="1463040"/>
            <a:ext cx="2005507" cy="1436708"/>
          </a:xfrm>
          <a:prstGeom prst="rect">
            <a:avLst/>
          </a:prstGeom>
          <a:noFill/>
        </p:spPr>
        <p:txBody>
          <a:bodyPr wrap="square" lIns="0" tIns="0" rIns="0" bIns="0" anchor="ctr">
            <a:noAutofit/>
          </a:bodyPr>
          <a:lstStyle/>
          <a:p>
            <a:pPr algn="ctr">
              <a:spcAft>
                <a:spcPts val="400"/>
              </a:spcAft>
            </a:pPr>
            <a:r>
              <a:rPr sz="1100" b="0" i="0" spc="120">
                <a:solidFill>
                  <a:srgbClr val="A79FC4"/>
                </a:solidFill>
                <a:latin typeface="Cinzel"/>
              </a:rPr>
              <a:t>CAPTURE À VENIR</a:t>
            </a:r>
          </a:p>
          <a:p>
            <a:pPr algn="ctr">
              <a:spcAft>
                <a:spcPts val="200"/>
              </a:spcAft>
            </a:pPr>
            <a:r>
              <a:rPr sz="1200" b="0" i="0">
                <a:solidFill>
                  <a:srgbClr val="D1DBFF"/>
                </a:solidFill>
                <a:latin typeface="Calibri"/>
              </a:rPr>
              <a:t>captures/armes.png</a:t>
            </a:r>
          </a:p>
          <a:p>
            <a:pPr algn="ctr"/>
            <a:r>
              <a:rPr sz="1200" b="0" i="0">
                <a:solidFill>
                  <a:srgbClr val="A79FC4"/>
                </a:solidFill>
                <a:latin typeface="Calibri"/>
              </a:rPr>
              <a:t>le menu des armes</a:t>
            </a:r>
          </a:p>
        </p:txBody>
      </p:sp>
      <p:pic>
        <p:nvPicPr>
          <p:cNvPr id="13" name="Cadre armes" descr="img032.png"/>
          <p:cNvPicPr>
            <a:picLocks noChangeAspect="1"/>
          </p:cNvPicPr>
          <p:nvPr/>
        </p:nvPicPr>
        <p:blipFill>
          <a:blip r:embed="rId5"/>
          <a:stretch>
            <a:fillRect/>
          </a:stretch>
        </p:blipFill>
        <p:spPr>
          <a:xfrm>
            <a:off x="3331387" y="1399032"/>
            <a:ext cx="2682163" cy="1564724"/>
          </a:xfrm>
          <a:prstGeom prst="rect">
            <a:avLst/>
          </a:prstGeom>
        </p:spPr>
      </p:pic>
      <p:sp>
        <p:nvSpPr>
          <p:cNvPr id="14" name="Ajout 2"/>
          <p:cNvSpPr txBox="1"/>
          <p:nvPr/>
        </p:nvSpPr>
        <p:spPr>
          <a:xfrm>
            <a:off x="3395395" y="3155780"/>
            <a:ext cx="2554147" cy="1463040"/>
          </a:xfrm>
          <a:prstGeom prst="rect">
            <a:avLst/>
          </a:prstGeom>
          <a:noFill/>
        </p:spPr>
        <p:txBody>
          <a:bodyPr wrap="square" lIns="0" tIns="0" rIns="0" bIns="0" anchor="t">
            <a:noAutofit/>
          </a:bodyPr>
          <a:lstStyle/>
          <a:p>
            <a:pPr algn="l">
              <a:spcAft>
                <a:spcPts val="500"/>
              </a:spcAft>
            </a:pPr>
            <a:r>
              <a:rPr sz="1200" b="0" i="0" spc="150">
                <a:solidFill>
                  <a:srgbClr val="FFCC61"/>
                </a:solidFill>
                <a:latin typeface="Cinzel"/>
              </a:rPr>
              <a:t>LE MENU DES ARMES</a:t>
            </a:r>
          </a:p>
          <a:p>
            <a:pPr algn="l"/>
            <a:r>
              <a:rPr sz="1500" b="0" i="0">
                <a:solidFill>
                  <a:srgbClr val="F5EDDB"/>
                </a:solidFill>
                <a:latin typeface="Calibri"/>
              </a:rPr>
              <a:t>Les arcs deviennent des classes, débloquées par des succès. </a:t>
            </a:r>
            <a:r>
              <a:rPr sz="1500" b="1" i="0">
                <a:solidFill>
                  <a:srgbClr val="F259D9"/>
                </a:solidFill>
                <a:latin typeface="Calibri"/>
              </a:rPr>
              <a:t>Jude</a:t>
            </a:r>
          </a:p>
        </p:txBody>
      </p:sp>
      <p:pic>
        <p:nvPicPr>
          <p:cNvPr id="15" name="Fond grenade" descr="img031.png"/>
          <p:cNvPicPr>
            <a:picLocks noChangeAspect="1"/>
          </p:cNvPicPr>
          <p:nvPr/>
        </p:nvPicPr>
        <p:blipFill>
          <a:blip r:embed="rId4"/>
          <a:stretch>
            <a:fillRect/>
          </a:stretch>
        </p:blipFill>
        <p:spPr>
          <a:xfrm>
            <a:off x="6178143" y="1399032"/>
            <a:ext cx="2682163" cy="1564724"/>
          </a:xfrm>
          <a:prstGeom prst="rect">
            <a:avLst/>
          </a:prstGeom>
        </p:spPr>
      </p:pic>
      <p:sp>
        <p:nvSpPr>
          <p:cNvPr id="16" name="Attente grenade"/>
          <p:cNvSpPr txBox="1"/>
          <p:nvPr/>
        </p:nvSpPr>
        <p:spPr>
          <a:xfrm>
            <a:off x="6516471" y="1463040"/>
            <a:ext cx="2005507" cy="1436708"/>
          </a:xfrm>
          <a:prstGeom prst="rect">
            <a:avLst/>
          </a:prstGeom>
          <a:noFill/>
        </p:spPr>
        <p:txBody>
          <a:bodyPr wrap="square" lIns="0" tIns="0" rIns="0" bIns="0" anchor="ctr">
            <a:noAutofit/>
          </a:bodyPr>
          <a:lstStyle/>
          <a:p>
            <a:pPr algn="ctr">
              <a:spcAft>
                <a:spcPts val="400"/>
              </a:spcAft>
            </a:pPr>
            <a:r>
              <a:rPr sz="1100" b="0" i="0" spc="120">
                <a:solidFill>
                  <a:srgbClr val="A79FC4"/>
                </a:solidFill>
                <a:latin typeface="Cinzel"/>
              </a:rPr>
              <a:t>CAPTURE À VENIR</a:t>
            </a:r>
          </a:p>
          <a:p>
            <a:pPr algn="ctr">
              <a:spcAft>
                <a:spcPts val="200"/>
              </a:spcAft>
            </a:pPr>
            <a:r>
              <a:rPr sz="1200" b="0" i="0">
                <a:solidFill>
                  <a:srgbClr val="D1DBFF"/>
                </a:solidFill>
                <a:latin typeface="Calibri"/>
              </a:rPr>
              <a:t>captures/grenade.png</a:t>
            </a:r>
          </a:p>
          <a:p>
            <a:pPr algn="ctr"/>
            <a:r>
              <a:rPr sz="1200" b="0" i="0">
                <a:solidFill>
                  <a:srgbClr val="A79FC4"/>
                </a:solidFill>
                <a:latin typeface="Calibri"/>
              </a:rPr>
              <a:t>la grenade à flèches</a:t>
            </a:r>
          </a:p>
        </p:txBody>
      </p:sp>
      <p:pic>
        <p:nvPicPr>
          <p:cNvPr id="17" name="Cadre grenade" descr="img032.png"/>
          <p:cNvPicPr>
            <a:picLocks noChangeAspect="1"/>
          </p:cNvPicPr>
          <p:nvPr/>
        </p:nvPicPr>
        <p:blipFill>
          <a:blip r:embed="rId5"/>
          <a:stretch>
            <a:fillRect/>
          </a:stretch>
        </p:blipFill>
        <p:spPr>
          <a:xfrm>
            <a:off x="6178143" y="1399032"/>
            <a:ext cx="2682163" cy="1564724"/>
          </a:xfrm>
          <a:prstGeom prst="rect">
            <a:avLst/>
          </a:prstGeom>
        </p:spPr>
      </p:pic>
      <p:sp>
        <p:nvSpPr>
          <p:cNvPr id="18" name="Ajout 3"/>
          <p:cNvSpPr txBox="1"/>
          <p:nvPr/>
        </p:nvSpPr>
        <p:spPr>
          <a:xfrm>
            <a:off x="6242151" y="3155780"/>
            <a:ext cx="2554147" cy="1463040"/>
          </a:xfrm>
          <a:prstGeom prst="rect">
            <a:avLst/>
          </a:prstGeom>
          <a:noFill/>
        </p:spPr>
        <p:txBody>
          <a:bodyPr wrap="square" lIns="0" tIns="0" rIns="0" bIns="0" anchor="t">
            <a:noAutofit/>
          </a:bodyPr>
          <a:lstStyle/>
          <a:p>
            <a:pPr algn="l">
              <a:spcAft>
                <a:spcPts val="500"/>
              </a:spcAft>
            </a:pPr>
            <a:r>
              <a:rPr sz="1200" b="0" i="0" spc="150">
                <a:solidFill>
                  <a:srgbClr val="FFCC61"/>
                </a:solidFill>
                <a:latin typeface="Cinzel"/>
              </a:rPr>
              <a:t>LA GRENADE À FLÈCHES</a:t>
            </a:r>
          </a:p>
          <a:p>
            <a:pPr algn="l"/>
            <a:r>
              <a:rPr sz="1500" b="0" i="0">
                <a:solidFill>
                  <a:srgbClr val="F5EDDB"/>
                </a:solidFill>
                <a:latin typeface="Calibri"/>
              </a:rPr>
              <a:t>Sortie de la poche, elle éclate en 28 flèches. </a:t>
            </a:r>
            <a:r>
              <a:rPr sz="1500" b="1" i="0">
                <a:solidFill>
                  <a:srgbClr val="66F28C"/>
                </a:solidFill>
                <a:latin typeface="Calibri"/>
              </a:rPr>
              <a:t>Dovin</a:t>
            </a:r>
          </a:p>
        </p:txBody>
      </p:sp>
      <p:pic>
        <p:nvPicPr>
          <p:cNvPr id="19" name="Fond secret" descr="img031.png"/>
          <p:cNvPicPr>
            <a:picLocks noChangeAspect="1"/>
          </p:cNvPicPr>
          <p:nvPr/>
        </p:nvPicPr>
        <p:blipFill>
          <a:blip r:embed="rId4"/>
          <a:stretch>
            <a:fillRect/>
          </a:stretch>
        </p:blipFill>
        <p:spPr>
          <a:xfrm>
            <a:off x="9024899" y="1399032"/>
            <a:ext cx="2682163" cy="1564724"/>
          </a:xfrm>
          <a:prstGeom prst="rect">
            <a:avLst/>
          </a:prstGeom>
        </p:spPr>
      </p:pic>
      <p:sp>
        <p:nvSpPr>
          <p:cNvPr id="20" name="Attente secret"/>
          <p:cNvSpPr txBox="1"/>
          <p:nvPr/>
        </p:nvSpPr>
        <p:spPr>
          <a:xfrm>
            <a:off x="9363227" y="1463040"/>
            <a:ext cx="2005507" cy="1436708"/>
          </a:xfrm>
          <a:prstGeom prst="rect">
            <a:avLst/>
          </a:prstGeom>
          <a:noFill/>
        </p:spPr>
        <p:txBody>
          <a:bodyPr wrap="square" lIns="0" tIns="0" rIns="0" bIns="0" anchor="ctr">
            <a:noAutofit/>
          </a:bodyPr>
          <a:lstStyle/>
          <a:p>
            <a:pPr algn="ctr">
              <a:spcAft>
                <a:spcPts val="400"/>
              </a:spcAft>
            </a:pPr>
            <a:r>
              <a:rPr sz="1100" b="0" i="0" spc="120">
                <a:solidFill>
                  <a:srgbClr val="A79FC4"/>
                </a:solidFill>
                <a:latin typeface="Cinzel"/>
              </a:rPr>
              <a:t>CAPTURE À VENIR</a:t>
            </a:r>
          </a:p>
          <a:p>
            <a:pPr algn="ctr">
              <a:spcAft>
                <a:spcPts val="200"/>
              </a:spcAft>
            </a:pPr>
            <a:r>
              <a:rPr sz="1200" b="0" i="0">
                <a:solidFill>
                  <a:srgbClr val="D1DBFF"/>
                </a:solidFill>
                <a:latin typeface="Calibri"/>
              </a:rPr>
              <a:t>captures/secret.png</a:t>
            </a:r>
          </a:p>
          <a:p>
            <a:pPr algn="ctr"/>
            <a:r>
              <a:rPr sz="1200" b="0" i="0">
                <a:solidFill>
                  <a:srgbClr val="A79FC4"/>
                </a:solidFill>
                <a:latin typeface="Calibri"/>
              </a:rPr>
              <a:t>le portail des étoiles, le toit cyberpunk ou une faille du katana</a:t>
            </a:r>
          </a:p>
        </p:txBody>
      </p:sp>
      <p:pic>
        <p:nvPicPr>
          <p:cNvPr id="21" name="Cadre secret" descr="img032.png"/>
          <p:cNvPicPr>
            <a:picLocks noChangeAspect="1"/>
          </p:cNvPicPr>
          <p:nvPr/>
        </p:nvPicPr>
        <p:blipFill>
          <a:blip r:embed="rId5"/>
          <a:stretch>
            <a:fillRect/>
          </a:stretch>
        </p:blipFill>
        <p:spPr>
          <a:xfrm>
            <a:off x="9024899" y="1399032"/>
            <a:ext cx="2682163" cy="1564724"/>
          </a:xfrm>
          <a:prstGeom prst="rect">
            <a:avLst/>
          </a:prstGeom>
        </p:spPr>
      </p:pic>
      <p:sp>
        <p:nvSpPr>
          <p:cNvPr id="22" name="Ajout 4"/>
          <p:cNvSpPr txBox="1"/>
          <p:nvPr/>
        </p:nvSpPr>
        <p:spPr>
          <a:xfrm>
            <a:off x="9088907" y="3155780"/>
            <a:ext cx="2554147" cy="1463040"/>
          </a:xfrm>
          <a:prstGeom prst="rect">
            <a:avLst/>
          </a:prstGeom>
          <a:noFill/>
        </p:spPr>
        <p:txBody>
          <a:bodyPr wrap="square" lIns="0" tIns="0" rIns="0" bIns="0" anchor="t">
            <a:noAutofit/>
          </a:bodyPr>
          <a:lstStyle/>
          <a:p>
            <a:pPr algn="l">
              <a:spcAft>
                <a:spcPts val="500"/>
              </a:spcAft>
            </a:pPr>
            <a:r>
              <a:rPr sz="1200" b="0" i="0" spc="150">
                <a:solidFill>
                  <a:srgbClr val="FFCC61"/>
                </a:solidFill>
                <a:latin typeface="Cinzel"/>
              </a:rPr>
              <a:t>DEUX SECRETS</a:t>
            </a:r>
          </a:p>
          <a:p>
            <a:pPr algn="l"/>
            <a:r>
              <a:rPr sz="1500" b="0" i="0">
                <a:solidFill>
                  <a:srgbClr val="F5EDDB"/>
                </a:solidFill>
                <a:latin typeface="Calibri"/>
              </a:rPr>
              <a:t>Le portail des étoiles et le toit cyberpunk, chacun avec son arme cachée.</a:t>
            </a:r>
          </a:p>
        </p:txBody>
      </p:sp>
      <p:pic>
        <p:nvPicPr>
          <p:cNvPr id="23" name="Aussi" descr="img039.png"/>
          <p:cNvPicPr>
            <a:picLocks noChangeAspect="1"/>
          </p:cNvPicPr>
          <p:nvPr/>
        </p:nvPicPr>
        <p:blipFill>
          <a:blip r:embed="rId6"/>
          <a:stretch>
            <a:fillRect/>
          </a:stretch>
        </p:blipFill>
        <p:spPr>
          <a:xfrm>
            <a:off x="548640" y="4846320"/>
            <a:ext cx="11094415" cy="1234440"/>
          </a:xfrm>
          <a:prstGeom prst="rect">
            <a:avLst/>
          </a:prstGeom>
        </p:spPr>
      </p:pic>
      <p:sp>
        <p:nvSpPr>
          <p:cNvPr id="24" name="Texte aussi"/>
          <p:cNvSpPr txBox="1"/>
          <p:nvPr/>
        </p:nvSpPr>
        <p:spPr>
          <a:xfrm>
            <a:off x="960120" y="4846320"/>
            <a:ext cx="10271455" cy="1234440"/>
          </a:xfrm>
          <a:prstGeom prst="rect">
            <a:avLst/>
          </a:prstGeom>
          <a:noFill/>
        </p:spPr>
        <p:txBody>
          <a:bodyPr wrap="square" lIns="0" tIns="0" rIns="0" bIns="0" anchor="ctr">
            <a:noAutofit/>
          </a:bodyPr>
          <a:lstStyle/>
          <a:p>
            <a:pPr algn="l">
              <a:spcAft>
                <a:spcPts val="400"/>
              </a:spcAft>
            </a:pPr>
            <a:r>
              <a:rPr sz="1300" b="0" i="0" spc="200">
                <a:solidFill>
                  <a:srgbClr val="FFCC61"/>
                </a:solidFill>
                <a:latin typeface="Cinzel"/>
              </a:rPr>
              <a:t>AUSSI</a:t>
            </a:r>
          </a:p>
          <a:p>
            <a:pPr algn="l"/>
            <a:r>
              <a:rPr sz="1600" b="0" i="0">
                <a:solidFill>
                  <a:srgbClr val="F5EDDB"/>
                </a:solidFill>
                <a:latin typeface="Calibri"/>
              </a:rPr>
              <a:t>cinq boss, et MK, un dragon en trois phases · courir en balançant les bras · glisser et sauter · des coffres · un mode infini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ond" descr="img001.png"/>
          <p:cNvPicPr>
            <a:picLocks noChangeAspect="1"/>
          </p:cNvPicPr>
          <p:nvPr/>
        </p:nvPicPr>
        <p:blipFill>
          <a:blip r:embed="rId3"/>
          <a:stretch>
            <a:fillRect/>
          </a:stretch>
        </p:blipFill>
        <p:spPr>
          <a:xfrm>
            <a:off x="0" y="0"/>
            <a:ext cx="12191695" cy="6858000"/>
          </a:xfrm>
          <a:prstGeom prst="rect">
            <a:avLst/>
          </a:prstGeom>
        </p:spPr>
      </p:pic>
      <p:sp>
        <p:nvSpPr>
          <p:cNvPr id="3" name="Titre"/>
          <p:cNvSpPr txBox="1"/>
          <p:nvPr/>
        </p:nvSpPr>
        <p:spPr>
          <a:xfrm>
            <a:off x="548640" y="411480"/>
            <a:ext cx="9326880" cy="731520"/>
          </a:xfrm>
          <a:prstGeom prst="rect">
            <a:avLst/>
          </a:prstGeom>
          <a:noFill/>
        </p:spPr>
        <p:txBody>
          <a:bodyPr wrap="square" lIns="0" tIns="0" rIns="0" bIns="0" anchor="ctr">
            <a:noAutofit/>
          </a:bodyPr>
          <a:lstStyle/>
          <a:p>
            <a:pPr algn="l"/>
            <a:r>
              <a:rPr sz="3200" b="0"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inzel Decorative"/>
              </a:rPr>
              <a:t>Comment c'est construit</a:t>
            </a:r>
          </a:p>
        </p:txBody>
      </p:sp>
      <p:sp>
        <p:nvSpPr>
          <p:cNvPr id="4" name="Orateur"/>
          <p:cNvSpPr txBox="1"/>
          <p:nvPr/>
        </p:nvSpPr>
        <p:spPr>
          <a:xfrm>
            <a:off x="9509760" y="566928"/>
            <a:ext cx="2133295" cy="411480"/>
          </a:xfrm>
          <a:prstGeom prst="rect">
            <a:avLst/>
          </a:prstGeom>
          <a:noFill/>
        </p:spPr>
        <p:txBody>
          <a:bodyPr wrap="square" lIns="0" tIns="0" rIns="0" bIns="0" anchor="ctr">
            <a:noAutofit/>
          </a:bodyPr>
          <a:lstStyle/>
          <a:p>
            <a:pPr algn="r"/>
            <a:r>
              <a:rPr sz="1400" b="0" i="0" spc="250">
                <a:solidFill>
                  <a:srgbClr val="FFBD40"/>
                </a:solidFill>
                <a:latin typeface="Cinzel"/>
              </a:rPr>
              <a:t>ANTONIN</a:t>
            </a:r>
          </a:p>
        </p:txBody>
      </p:sp>
      <p:sp>
        <p:nvSpPr>
          <p:cNvPr id="5" name="Pied"/>
          <p:cNvSpPr txBox="1"/>
          <p:nvPr/>
        </p:nvSpPr>
        <p:spPr>
          <a:xfrm>
            <a:off x="548640" y="6400800"/>
            <a:ext cx="2743200" cy="274320"/>
          </a:xfrm>
          <a:prstGeom prst="rect">
            <a:avLst/>
          </a:prstGeom>
          <a:noFill/>
        </p:spPr>
        <p:txBody>
          <a:bodyPr wrap="square" lIns="0" tIns="0" rIns="0" bIns="0" anchor="t">
            <a:noAutofit/>
          </a:bodyPr>
          <a:lstStyle/>
          <a:p>
            <a:pPr algn="l"/>
            <a:r>
              <a:rPr sz="1000" b="0" i="0" spc="200">
                <a:solidFill>
                  <a:srgbClr val="A79FC4"/>
                </a:solidFill>
                <a:latin typeface="Cinzel"/>
              </a:rPr>
              <a:t>THUNK VR</a:t>
            </a:r>
          </a:p>
        </p:txBody>
      </p:sp>
      <p:sp>
        <p:nvSpPr>
          <p:cNvPr id="6" name="Numéro"/>
          <p:cNvSpPr txBox="1"/>
          <p:nvPr/>
        </p:nvSpPr>
        <p:spPr>
          <a:xfrm>
            <a:off x="10271455" y="6400800"/>
            <a:ext cx="1371600" cy="274320"/>
          </a:xfrm>
          <a:prstGeom prst="rect">
            <a:avLst/>
          </a:prstGeom>
          <a:noFill/>
        </p:spPr>
        <p:txBody>
          <a:bodyPr wrap="square" lIns="0" tIns="0" rIns="0" bIns="0" anchor="t">
            <a:noAutofit/>
          </a:bodyPr>
          <a:lstStyle/>
          <a:p>
            <a:pPr algn="r"/>
            <a:r>
              <a:rPr sz="1100" b="0" i="0">
                <a:solidFill>
                  <a:srgbClr val="A79FC4"/>
                </a:solidFill>
                <a:latin typeface="Calibri"/>
              </a:rPr>
              <a:t>7 / 12</a:t>
            </a:r>
          </a:p>
        </p:txBody>
      </p:sp>
      <p:sp>
        <p:nvSpPr>
          <p:cNvPr id="7" name="Socle"/>
          <p:cNvSpPr txBox="1"/>
          <p:nvPr/>
        </p:nvSpPr>
        <p:spPr>
          <a:xfrm>
            <a:off x="548640" y="1417320"/>
            <a:ext cx="5806440" cy="868680"/>
          </a:xfrm>
          <a:prstGeom prst="rect">
            <a:avLst/>
          </a:prstGeom>
          <a:noFill/>
        </p:spPr>
        <p:txBody>
          <a:bodyPr wrap="square" lIns="0" tIns="0" rIns="0" bIns="0" anchor="t">
            <a:noAutofit/>
          </a:bodyPr>
          <a:lstStyle/>
          <a:p>
            <a:pPr algn="l">
              <a:spcAft>
                <a:spcPts val="400"/>
              </a:spcAft>
            </a:pPr>
            <a:r>
              <a:rPr sz="1300" b="0" i="0" spc="200">
                <a:solidFill>
                  <a:srgbClr val="FFCC61"/>
                </a:solidFill>
                <a:latin typeface="Cinzel"/>
              </a:rPr>
              <a:t>LE SOCLE</a:t>
            </a:r>
          </a:p>
          <a:p>
            <a:pPr algn="l"/>
            <a:r>
              <a:rPr sz="1500" b="0" i="0">
                <a:solidFill>
                  <a:srgbClr val="F5EDDB"/>
                </a:solidFill>
                <a:latin typeface="Calibri"/>
              </a:rPr>
              <a:t>Unity 6 et URP · XR Interaction Toolkit 3.5 · OpenXR · Meta Quest 3 relié au PC par Link</a:t>
            </a:r>
          </a:p>
        </p:txBody>
      </p:sp>
      <p:sp>
        <p:nvSpPr>
          <p:cNvPr id="8" name="Choix"/>
          <p:cNvSpPr txBox="1"/>
          <p:nvPr/>
        </p:nvSpPr>
        <p:spPr>
          <a:xfrm>
            <a:off x="548640" y="2423160"/>
            <a:ext cx="5806440" cy="2103120"/>
          </a:xfrm>
          <a:prstGeom prst="rect">
            <a:avLst/>
          </a:prstGeom>
          <a:noFill/>
        </p:spPr>
        <p:txBody>
          <a:bodyPr wrap="square" lIns="0" tIns="0" rIns="0" bIns="0" anchor="t">
            <a:noAutofit/>
          </a:bodyPr>
          <a:lstStyle/>
          <a:p>
            <a:pPr algn="l">
              <a:spcAft>
                <a:spcPts val="400"/>
              </a:spcAft>
            </a:pPr>
            <a:r>
              <a:rPr sz="1300" b="0" i="0" spc="200">
                <a:solidFill>
                  <a:srgbClr val="FFCC61"/>
                </a:solidFill>
                <a:latin typeface="Cinzel"/>
              </a:rPr>
              <a:t>NOS CHOIX</a:t>
            </a:r>
          </a:p>
          <a:p>
            <a:pPr marL="237744" indent="-237744" algn="l">
              <a:spcAft>
                <a:spcPts val="500"/>
              </a:spcAft>
              <a:buClr>
                <a:srgbClr val="FFCC61"/>
              </a:buClr>
              <a:buSzPct val="70000"/>
              <a:buFont typeface="Segoe UI Symbol"/>
              <a:buChar char="◆"/>
            </a:pPr>
            <a:r>
              <a:rPr sz="1500" b="1" i="0">
                <a:solidFill>
                  <a:srgbClr val="F5EDDB"/>
                </a:solidFill>
                <a:latin typeface="Calibri"/>
              </a:rPr>
              <a:t>Les réglages en ScriptableObjects</a:t>
            </a:r>
            <a:r>
              <a:rPr sz="1500" b="0" i="0">
                <a:solidFill>
                  <a:srgbClr val="F5EDDB"/>
                </a:solidFill>
                <a:latin typeface="Calibri"/>
              </a:rPr>
              <a:t> : on équilibre sans toucher au code.</a:t>
            </a:r>
          </a:p>
          <a:p>
            <a:pPr marL="237744" indent="-237744" algn="l">
              <a:spcAft>
                <a:spcPts val="500"/>
              </a:spcAft>
              <a:buClr>
                <a:srgbClr val="FFCC61"/>
              </a:buClr>
              <a:buSzPct val="70000"/>
              <a:buFont typeface="Segoe UI Symbol"/>
              <a:buChar char="◆"/>
            </a:pPr>
            <a:r>
              <a:rPr sz="1500" b="1" i="0">
                <a:solidFill>
                  <a:srgbClr val="F5EDDB"/>
                </a:solidFill>
                <a:latin typeface="Calibri"/>
              </a:rPr>
              <a:t>Des pools d'objets</a:t>
            </a:r>
            <a:r>
              <a:rPr sz="1500" b="0" i="0">
                <a:solidFill>
                  <a:srgbClr val="F5EDDB"/>
                </a:solidFill>
                <a:latin typeface="Calibri"/>
              </a:rPr>
              <a:t> : flèches, ennemis et effets réutilisés, pour tenir 72 images/s.</a:t>
            </a:r>
          </a:p>
          <a:p>
            <a:pPr marL="237744" indent="-237744" algn="l">
              <a:spcAft>
                <a:spcPts val="500"/>
              </a:spcAft>
              <a:buClr>
                <a:srgbClr val="FFCC61"/>
              </a:buClr>
              <a:buSzPct val="70000"/>
              <a:buFont typeface="Segoe UI Symbol"/>
              <a:buChar char="◆"/>
            </a:pPr>
            <a:r>
              <a:rPr sz="1500" b="1" i="0">
                <a:solidFill>
                  <a:srgbClr val="F5EDDB"/>
                </a:solidFill>
                <a:latin typeface="Calibri"/>
              </a:rPr>
              <a:t>Le NavMesh</a:t>
            </a:r>
            <a:r>
              <a:rPr sz="1500" b="0" i="0">
                <a:solidFill>
                  <a:srgbClr val="F5EDDB"/>
                </a:solidFill>
                <a:latin typeface="Calibri"/>
              </a:rPr>
              <a:t> : les ennemis suivent les trois voies jusqu'à la tour.</a:t>
            </a:r>
          </a:p>
          <a:p>
            <a:pPr marL="237744" indent="-237744" algn="l">
              <a:spcAft>
                <a:spcPts val="500"/>
              </a:spcAft>
              <a:buClr>
                <a:srgbClr val="FFCC61"/>
              </a:buClr>
              <a:buSzPct val="70000"/>
              <a:buFont typeface="Segoe UI Symbol"/>
              <a:buChar char="◆"/>
            </a:pPr>
            <a:r>
              <a:rPr sz="1500" b="1" i="0">
                <a:solidFill>
                  <a:srgbClr val="F5EDDB"/>
                </a:solidFill>
                <a:latin typeface="Calibri"/>
              </a:rPr>
              <a:t>Un mode clavier-souris</a:t>
            </a:r>
            <a:r>
              <a:rPr sz="1500" b="0" i="0">
                <a:solidFill>
                  <a:srgbClr val="F5EDDB"/>
                </a:solidFill>
                <a:latin typeface="Calibri"/>
              </a:rPr>
              <a:t> : on teste sans mettre le casque.</a:t>
            </a:r>
          </a:p>
        </p:txBody>
      </p:sp>
      <p:pic>
        <p:nvPicPr>
          <p:cNvPr id="9" name="IA" descr="img040.png"/>
          <p:cNvPicPr>
            <a:picLocks noChangeAspect="1"/>
          </p:cNvPicPr>
          <p:nvPr/>
        </p:nvPicPr>
        <p:blipFill>
          <a:blip r:embed="rId4"/>
          <a:stretch>
            <a:fillRect/>
          </a:stretch>
        </p:blipFill>
        <p:spPr>
          <a:xfrm>
            <a:off x="548640" y="4572000"/>
            <a:ext cx="5806440" cy="1508760"/>
          </a:xfrm>
          <a:prstGeom prst="rect">
            <a:avLst/>
          </a:prstGeom>
        </p:spPr>
      </p:pic>
      <p:sp>
        <p:nvSpPr>
          <p:cNvPr id="10" name="Texte IA"/>
          <p:cNvSpPr txBox="1"/>
          <p:nvPr/>
        </p:nvSpPr>
        <p:spPr>
          <a:xfrm>
            <a:off x="914400" y="4572000"/>
            <a:ext cx="5074920" cy="1508760"/>
          </a:xfrm>
          <a:prstGeom prst="rect">
            <a:avLst/>
          </a:prstGeom>
          <a:noFill/>
        </p:spPr>
        <p:txBody>
          <a:bodyPr wrap="square" lIns="0" tIns="0" rIns="0" bIns="0" anchor="ctr">
            <a:noAutofit/>
          </a:bodyPr>
          <a:lstStyle/>
          <a:p>
            <a:pPr algn="l">
              <a:spcAft>
                <a:spcPts val="600"/>
              </a:spcAft>
            </a:pPr>
            <a:r>
              <a:rPr sz="1300" b="0" i="0" spc="150">
                <a:solidFill>
                  <a:srgbClr val="FFCC61"/>
                </a:solidFill>
                <a:latin typeface="Cinzel"/>
              </a:rPr>
              <a:t>L'IA (CLAUDE CODE), POUR DEUX CHOSES</a:t>
            </a:r>
          </a:p>
          <a:p>
            <a:pPr marL="237744" indent="-237744" algn="l">
              <a:spcAft>
                <a:spcPts val="300"/>
              </a:spcAft>
              <a:buClr>
                <a:srgbClr val="FFCC61"/>
              </a:buClr>
              <a:buSzPct val="70000"/>
              <a:buFont typeface="Segoe UI Symbol"/>
              <a:buChar char="◆"/>
            </a:pPr>
            <a:r>
              <a:rPr sz="1500" b="0" i="0">
                <a:solidFill>
                  <a:srgbClr val="F5EDDB"/>
                </a:solidFill>
                <a:latin typeface="Calibri"/>
              </a:rPr>
              <a:t>Générer des scripts.</a:t>
            </a:r>
          </a:p>
          <a:p>
            <a:pPr marL="237744" indent="-237744" algn="l">
              <a:buClr>
                <a:srgbClr val="FFCC61"/>
              </a:buClr>
              <a:buSzPct val="70000"/>
              <a:buFont typeface="Segoe UI Symbol"/>
              <a:buChar char="◆"/>
            </a:pPr>
            <a:r>
              <a:rPr sz="1500" b="0" i="0">
                <a:solidFill>
                  <a:srgbClr val="F5EDDB"/>
                </a:solidFill>
                <a:latin typeface="Calibri"/>
              </a:rPr>
              <a:t>Écrire des guides pas à pas pour monter chaque fonctionnalité dans Unity.</a:t>
            </a:r>
          </a:p>
        </p:txBody>
      </p:sp>
      <p:pic>
        <p:nvPicPr>
          <p:cNvPr id="11" name="Fond unity" descr="img041.png"/>
          <p:cNvPicPr>
            <a:picLocks noChangeAspect="1"/>
          </p:cNvPicPr>
          <p:nvPr/>
        </p:nvPicPr>
        <p:blipFill>
          <a:blip r:embed="rId5"/>
          <a:stretch>
            <a:fillRect/>
          </a:stretch>
        </p:blipFill>
        <p:spPr>
          <a:xfrm>
            <a:off x="6748271" y="1399032"/>
            <a:ext cx="4958791" cy="2845327"/>
          </a:xfrm>
          <a:prstGeom prst="rect">
            <a:avLst/>
          </a:prstGeom>
        </p:spPr>
      </p:pic>
      <p:sp>
        <p:nvSpPr>
          <p:cNvPr id="12" name="Attente unity"/>
          <p:cNvSpPr txBox="1"/>
          <p:nvPr/>
        </p:nvSpPr>
        <p:spPr>
          <a:xfrm>
            <a:off x="7086599" y="1463040"/>
            <a:ext cx="4282135" cy="2717311"/>
          </a:xfrm>
          <a:prstGeom prst="rect">
            <a:avLst/>
          </a:prstGeom>
          <a:noFill/>
        </p:spPr>
        <p:txBody>
          <a:bodyPr wrap="square" lIns="0" tIns="0" rIns="0" bIns="0" anchor="ctr">
            <a:noAutofit/>
          </a:bodyPr>
          <a:lstStyle/>
          <a:p>
            <a:pPr algn="ctr">
              <a:spcAft>
                <a:spcPts val="400"/>
              </a:spcAft>
            </a:pPr>
            <a:r>
              <a:rPr sz="1100" b="0" i="0" spc="120">
                <a:solidFill>
                  <a:srgbClr val="A79FC4"/>
                </a:solidFill>
                <a:latin typeface="Cinzel"/>
              </a:rPr>
              <a:t>CAPTURE À VENIR</a:t>
            </a:r>
          </a:p>
          <a:p>
            <a:pPr algn="ctr">
              <a:spcAft>
                <a:spcPts val="200"/>
              </a:spcAft>
            </a:pPr>
            <a:r>
              <a:rPr sz="1200" b="0" i="0">
                <a:solidFill>
                  <a:srgbClr val="D1DBFF"/>
                </a:solidFill>
                <a:latin typeface="Calibri"/>
              </a:rPr>
              <a:t>captures/unity.png</a:t>
            </a:r>
          </a:p>
          <a:p>
            <a:pPr algn="ctr"/>
            <a:r>
              <a:rPr sz="1200" b="0" i="0">
                <a:solidFill>
                  <a:srgbClr val="A79FC4"/>
                </a:solidFill>
                <a:latin typeface="Calibri"/>
              </a:rPr>
              <a:t>l'éditeur Unity, la scène ouverte</a:t>
            </a:r>
          </a:p>
        </p:txBody>
      </p:sp>
      <p:pic>
        <p:nvPicPr>
          <p:cNvPr id="13" name="Cadre unity" descr="img042.png"/>
          <p:cNvPicPr>
            <a:picLocks noChangeAspect="1"/>
          </p:cNvPicPr>
          <p:nvPr/>
        </p:nvPicPr>
        <p:blipFill>
          <a:blip r:embed="rId6"/>
          <a:stretch>
            <a:fillRect/>
          </a:stretch>
        </p:blipFill>
        <p:spPr>
          <a:xfrm>
            <a:off x="6748271" y="1399032"/>
            <a:ext cx="4958791" cy="2845327"/>
          </a:xfrm>
          <a:prstGeom prst="rect">
            <a:avLst/>
          </a:prstGeom>
        </p:spPr>
      </p:pic>
      <p:sp>
        <p:nvSpPr>
          <p:cNvPr id="14" name="Chiffre 1"/>
          <p:cNvSpPr txBox="1"/>
          <p:nvPr/>
        </p:nvSpPr>
        <p:spPr>
          <a:xfrm>
            <a:off x="6812279" y="4663440"/>
            <a:ext cx="1610258" cy="1417319"/>
          </a:xfrm>
          <a:prstGeom prst="rect">
            <a:avLst/>
          </a:prstGeom>
          <a:noFill/>
        </p:spPr>
        <p:txBody>
          <a:bodyPr wrap="square" lIns="0" tIns="0" rIns="0" bIns="0" anchor="t">
            <a:noAutofit/>
          </a:bodyPr>
          <a:lstStyle/>
          <a:p>
            <a:pPr algn="ctr">
              <a:spcAft>
                <a:spcPts val="0"/>
              </a:spcAft>
            </a:pPr>
            <a:r>
              <a:rPr sz="3400" b="1"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ambria"/>
              </a:rPr>
              <a:t>215</a:t>
            </a:r>
          </a:p>
          <a:p>
            <a:pPr algn="ctr"/>
            <a:r>
              <a:rPr sz="1300" b="0" i="0">
                <a:solidFill>
                  <a:srgbClr val="D1DBFF"/>
                </a:solidFill>
                <a:latin typeface="Calibri"/>
              </a:rPr>
              <a:t>scripts C#</a:t>
            </a:r>
          </a:p>
        </p:txBody>
      </p:sp>
      <p:sp>
        <p:nvSpPr>
          <p:cNvPr id="15" name="Chiffre 2"/>
          <p:cNvSpPr txBox="1"/>
          <p:nvPr/>
        </p:nvSpPr>
        <p:spPr>
          <a:xfrm>
            <a:off x="8422538" y="4663440"/>
            <a:ext cx="1610258" cy="1417319"/>
          </a:xfrm>
          <a:prstGeom prst="rect">
            <a:avLst/>
          </a:prstGeom>
          <a:noFill/>
        </p:spPr>
        <p:txBody>
          <a:bodyPr wrap="square" lIns="0" tIns="0" rIns="0" bIns="0" anchor="t">
            <a:noAutofit/>
          </a:bodyPr>
          <a:lstStyle/>
          <a:p>
            <a:pPr algn="ctr">
              <a:spcAft>
                <a:spcPts val="0"/>
              </a:spcAft>
            </a:pPr>
            <a:r>
              <a:rPr sz="3400" b="1"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ambria"/>
              </a:rPr>
              <a:t>64 000</a:t>
            </a:r>
          </a:p>
          <a:p>
            <a:pPr algn="ctr"/>
            <a:r>
              <a:rPr sz="1300" b="0" i="0">
                <a:solidFill>
                  <a:srgbClr val="D1DBFF"/>
                </a:solidFill>
                <a:latin typeface="Calibri"/>
              </a:rPr>
              <a:t>lignes de code</a:t>
            </a:r>
          </a:p>
        </p:txBody>
      </p:sp>
      <p:sp>
        <p:nvSpPr>
          <p:cNvPr id="16" name="Chiffre 3"/>
          <p:cNvSpPr txBox="1"/>
          <p:nvPr/>
        </p:nvSpPr>
        <p:spPr>
          <a:xfrm>
            <a:off x="10032796" y="4663440"/>
            <a:ext cx="1610258" cy="1417319"/>
          </a:xfrm>
          <a:prstGeom prst="rect">
            <a:avLst/>
          </a:prstGeom>
          <a:noFill/>
        </p:spPr>
        <p:txBody>
          <a:bodyPr wrap="square" lIns="0" tIns="0" rIns="0" bIns="0" anchor="t">
            <a:noAutofit/>
          </a:bodyPr>
          <a:lstStyle/>
          <a:p>
            <a:pPr algn="ctr">
              <a:spcAft>
                <a:spcPts val="0"/>
              </a:spcAft>
            </a:pPr>
            <a:r>
              <a:rPr sz="3400" b="1"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ambria"/>
              </a:rPr>
              <a:t>23</a:t>
            </a:r>
          </a:p>
          <a:p>
            <a:pPr algn="ctr"/>
            <a:r>
              <a:rPr sz="1300" b="0" i="0">
                <a:solidFill>
                  <a:srgbClr val="D1DBFF"/>
                </a:solidFill>
                <a:latin typeface="Calibri"/>
              </a:rPr>
              <a:t>shaders faits pour le jeu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ond" descr="img001.png"/>
          <p:cNvPicPr>
            <a:picLocks noChangeAspect="1"/>
          </p:cNvPicPr>
          <p:nvPr/>
        </p:nvPicPr>
        <p:blipFill>
          <a:blip r:embed="rId3"/>
          <a:stretch>
            <a:fillRect/>
          </a:stretch>
        </p:blipFill>
        <p:spPr>
          <a:xfrm>
            <a:off x="0" y="0"/>
            <a:ext cx="12191695" cy="6858000"/>
          </a:xfrm>
          <a:prstGeom prst="rect">
            <a:avLst/>
          </a:prstGeom>
        </p:spPr>
      </p:pic>
      <p:sp>
        <p:nvSpPr>
          <p:cNvPr id="3" name="Titre"/>
          <p:cNvSpPr txBox="1"/>
          <p:nvPr/>
        </p:nvSpPr>
        <p:spPr>
          <a:xfrm>
            <a:off x="548640" y="411480"/>
            <a:ext cx="9326880" cy="731520"/>
          </a:xfrm>
          <a:prstGeom prst="rect">
            <a:avLst/>
          </a:prstGeom>
          <a:noFill/>
        </p:spPr>
        <p:txBody>
          <a:bodyPr wrap="square" lIns="0" tIns="0" rIns="0" bIns="0" anchor="ctr">
            <a:noAutofit/>
          </a:bodyPr>
          <a:lstStyle/>
          <a:p>
            <a:pPr algn="l"/>
            <a:r>
              <a:rPr sz="3200" b="0"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inzel Decorative"/>
              </a:rPr>
              <a:t>Ce qui nous a résisté</a:t>
            </a:r>
          </a:p>
        </p:txBody>
      </p:sp>
      <p:sp>
        <p:nvSpPr>
          <p:cNvPr id="4" name="Orateur"/>
          <p:cNvSpPr txBox="1"/>
          <p:nvPr/>
        </p:nvSpPr>
        <p:spPr>
          <a:xfrm>
            <a:off x="9509760" y="566928"/>
            <a:ext cx="2133295" cy="411480"/>
          </a:xfrm>
          <a:prstGeom prst="rect">
            <a:avLst/>
          </a:prstGeom>
          <a:noFill/>
        </p:spPr>
        <p:txBody>
          <a:bodyPr wrap="square" lIns="0" tIns="0" rIns="0" bIns="0" anchor="ctr">
            <a:noAutofit/>
          </a:bodyPr>
          <a:lstStyle/>
          <a:p>
            <a:pPr algn="r"/>
            <a:r>
              <a:rPr sz="1400" b="0" i="0" spc="250">
                <a:solidFill>
                  <a:srgbClr val="FFBD40"/>
                </a:solidFill>
                <a:latin typeface="Cinzel"/>
              </a:rPr>
              <a:t>ANTONIN</a:t>
            </a:r>
          </a:p>
        </p:txBody>
      </p:sp>
      <p:sp>
        <p:nvSpPr>
          <p:cNvPr id="5" name="Pied"/>
          <p:cNvSpPr txBox="1"/>
          <p:nvPr/>
        </p:nvSpPr>
        <p:spPr>
          <a:xfrm>
            <a:off x="548640" y="6400800"/>
            <a:ext cx="2743200" cy="274320"/>
          </a:xfrm>
          <a:prstGeom prst="rect">
            <a:avLst/>
          </a:prstGeom>
          <a:noFill/>
        </p:spPr>
        <p:txBody>
          <a:bodyPr wrap="square" lIns="0" tIns="0" rIns="0" bIns="0" anchor="t">
            <a:noAutofit/>
          </a:bodyPr>
          <a:lstStyle/>
          <a:p>
            <a:pPr algn="l"/>
            <a:r>
              <a:rPr sz="1000" b="0" i="0" spc="200">
                <a:solidFill>
                  <a:srgbClr val="A79FC4"/>
                </a:solidFill>
                <a:latin typeface="Cinzel"/>
              </a:rPr>
              <a:t>THUNK VR</a:t>
            </a:r>
          </a:p>
        </p:txBody>
      </p:sp>
      <p:sp>
        <p:nvSpPr>
          <p:cNvPr id="6" name="Numéro"/>
          <p:cNvSpPr txBox="1"/>
          <p:nvPr/>
        </p:nvSpPr>
        <p:spPr>
          <a:xfrm>
            <a:off x="10271455" y="6400800"/>
            <a:ext cx="1371600" cy="274320"/>
          </a:xfrm>
          <a:prstGeom prst="rect">
            <a:avLst/>
          </a:prstGeom>
          <a:noFill/>
        </p:spPr>
        <p:txBody>
          <a:bodyPr wrap="square" lIns="0" tIns="0" rIns="0" bIns="0" anchor="t">
            <a:noAutofit/>
          </a:bodyPr>
          <a:lstStyle/>
          <a:p>
            <a:pPr algn="r"/>
            <a:r>
              <a:rPr sz="1100" b="0" i="0">
                <a:solidFill>
                  <a:srgbClr val="A79FC4"/>
                </a:solidFill>
                <a:latin typeface="Calibri"/>
              </a:rPr>
              <a:t>8 / 12</a:t>
            </a:r>
          </a:p>
        </p:txBody>
      </p:sp>
      <p:sp>
        <p:nvSpPr>
          <p:cNvPr id="7" name="En-tête problème"/>
          <p:cNvSpPr txBox="1"/>
          <p:nvPr/>
        </p:nvSpPr>
        <p:spPr>
          <a:xfrm>
            <a:off x="914400" y="1371600"/>
            <a:ext cx="5029200" cy="320040"/>
          </a:xfrm>
          <a:prstGeom prst="rect">
            <a:avLst/>
          </a:prstGeom>
          <a:noFill/>
        </p:spPr>
        <p:txBody>
          <a:bodyPr wrap="square" lIns="0" tIns="0" rIns="0" bIns="0" anchor="t">
            <a:noAutofit/>
          </a:bodyPr>
          <a:lstStyle/>
          <a:p>
            <a:pPr algn="l"/>
            <a:r>
              <a:rPr sz="1300" b="0" i="0" spc="200">
                <a:solidFill>
                  <a:srgbClr val="E0475E"/>
                </a:solidFill>
                <a:latin typeface="Cinzel"/>
              </a:rPr>
              <a:t>LE PROBLÈME</a:t>
            </a:r>
          </a:p>
        </p:txBody>
      </p:sp>
      <p:sp>
        <p:nvSpPr>
          <p:cNvPr id="8" name="En-tête solution"/>
          <p:cNvSpPr txBox="1"/>
          <p:nvPr/>
        </p:nvSpPr>
        <p:spPr>
          <a:xfrm>
            <a:off x="6464808" y="1371600"/>
            <a:ext cx="5029200" cy="320040"/>
          </a:xfrm>
          <a:prstGeom prst="rect">
            <a:avLst/>
          </a:prstGeom>
          <a:noFill/>
        </p:spPr>
        <p:txBody>
          <a:bodyPr wrap="square" lIns="0" tIns="0" rIns="0" bIns="0" anchor="t">
            <a:noAutofit/>
          </a:bodyPr>
          <a:lstStyle/>
          <a:p>
            <a:pPr algn="l"/>
            <a:r>
              <a:rPr sz="1300" b="0" i="0" spc="200">
                <a:solidFill>
                  <a:srgbClr val="66F28C"/>
                </a:solidFill>
                <a:latin typeface="Cinzel"/>
              </a:rPr>
              <a:t>CE QU'ON A FAIT</a:t>
            </a:r>
          </a:p>
        </p:txBody>
      </p:sp>
      <p:pic>
        <p:nvPicPr>
          <p:cNvPr id="9" name="Ligne 1" descr="img044.png"/>
          <p:cNvPicPr>
            <a:picLocks noChangeAspect="1"/>
          </p:cNvPicPr>
          <p:nvPr/>
        </p:nvPicPr>
        <p:blipFill>
          <a:blip r:embed="rId4"/>
          <a:stretch>
            <a:fillRect/>
          </a:stretch>
        </p:blipFill>
        <p:spPr>
          <a:xfrm>
            <a:off x="548640" y="1783080"/>
            <a:ext cx="11094415" cy="749808"/>
          </a:xfrm>
          <a:prstGeom prst="rect">
            <a:avLst/>
          </a:prstGeom>
        </p:spPr>
      </p:pic>
      <p:sp>
        <p:nvSpPr>
          <p:cNvPr id="10" name="Problème 1"/>
          <p:cNvSpPr txBox="1"/>
          <p:nvPr/>
        </p:nvSpPr>
        <p:spPr>
          <a:xfrm>
            <a:off x="914400" y="1783080"/>
            <a:ext cx="4818888" cy="749808"/>
          </a:xfrm>
          <a:prstGeom prst="rect">
            <a:avLst/>
          </a:prstGeom>
          <a:noFill/>
        </p:spPr>
        <p:txBody>
          <a:bodyPr wrap="square" lIns="0" tIns="0" rIns="0" bIns="0" anchor="ctr">
            <a:noAutofit/>
          </a:bodyPr>
          <a:lstStyle/>
          <a:p>
            <a:pPr algn="l"/>
            <a:r>
              <a:rPr sz="1500" b="1" i="0">
                <a:solidFill>
                  <a:srgbClr val="F5EDDB"/>
                </a:solidFill>
                <a:latin typeface="Calibri"/>
              </a:rPr>
              <a:t>Le mal des transports quand on se déplace</a:t>
            </a:r>
          </a:p>
        </p:txBody>
      </p:sp>
      <p:pic>
        <p:nvPicPr>
          <p:cNvPr id="11" name="Flèche 1" descr="img016.png"/>
          <p:cNvPicPr>
            <a:picLocks noChangeAspect="1"/>
          </p:cNvPicPr>
          <p:nvPr/>
        </p:nvPicPr>
        <p:blipFill>
          <a:blip r:embed="rId5"/>
          <a:stretch>
            <a:fillRect/>
          </a:stretch>
        </p:blipFill>
        <p:spPr>
          <a:xfrm>
            <a:off x="6007608" y="2048255"/>
            <a:ext cx="219456" cy="219456"/>
          </a:xfrm>
          <a:prstGeom prst="rect">
            <a:avLst/>
          </a:prstGeom>
        </p:spPr>
      </p:pic>
      <p:sp>
        <p:nvSpPr>
          <p:cNvPr id="12" name="Solution 1"/>
          <p:cNvSpPr txBox="1"/>
          <p:nvPr/>
        </p:nvSpPr>
        <p:spPr>
          <a:xfrm>
            <a:off x="6464808" y="1783080"/>
            <a:ext cx="4858207" cy="749808"/>
          </a:xfrm>
          <a:prstGeom prst="rect">
            <a:avLst/>
          </a:prstGeom>
          <a:noFill/>
        </p:spPr>
        <p:txBody>
          <a:bodyPr wrap="square" lIns="0" tIns="0" rIns="0" bIns="0" anchor="ctr">
            <a:noAutofit/>
          </a:bodyPr>
          <a:lstStyle/>
          <a:p>
            <a:pPr algn="l"/>
            <a:r>
              <a:rPr sz="1500" b="0" i="0">
                <a:solidFill>
                  <a:srgbClr val="F5EDDB"/>
                </a:solidFill>
                <a:latin typeface="Calibri"/>
              </a:rPr>
              <a:t>Courir en balançant les bras, rotation par crans, vignette de confort.</a:t>
            </a:r>
          </a:p>
        </p:txBody>
      </p:sp>
      <p:pic>
        <p:nvPicPr>
          <p:cNvPr id="13" name="Ligne 2" descr="img044.png"/>
          <p:cNvPicPr>
            <a:picLocks noChangeAspect="1"/>
          </p:cNvPicPr>
          <p:nvPr/>
        </p:nvPicPr>
        <p:blipFill>
          <a:blip r:embed="rId4"/>
          <a:stretch>
            <a:fillRect/>
          </a:stretch>
        </p:blipFill>
        <p:spPr>
          <a:xfrm>
            <a:off x="548640" y="2651760"/>
            <a:ext cx="11094415" cy="749808"/>
          </a:xfrm>
          <a:prstGeom prst="rect">
            <a:avLst/>
          </a:prstGeom>
        </p:spPr>
      </p:pic>
      <p:sp>
        <p:nvSpPr>
          <p:cNvPr id="14" name="Problème 2"/>
          <p:cNvSpPr txBox="1"/>
          <p:nvPr/>
        </p:nvSpPr>
        <p:spPr>
          <a:xfrm>
            <a:off x="914400" y="2651760"/>
            <a:ext cx="4818888" cy="749808"/>
          </a:xfrm>
          <a:prstGeom prst="rect">
            <a:avLst/>
          </a:prstGeom>
          <a:noFill/>
        </p:spPr>
        <p:txBody>
          <a:bodyPr wrap="square" lIns="0" tIns="0" rIns="0" bIns="0" anchor="ctr">
            <a:noAutofit/>
          </a:bodyPr>
          <a:lstStyle/>
          <a:p>
            <a:pPr algn="l"/>
            <a:r>
              <a:rPr sz="1500" b="1" i="0">
                <a:solidFill>
                  <a:srgbClr val="F5EDDB"/>
                </a:solidFill>
                <a:latin typeface="Calibri"/>
              </a:rPr>
              <a:t>Garder 72 images/s avec des dizaines d'ennemis</a:t>
            </a:r>
          </a:p>
        </p:txBody>
      </p:sp>
      <p:pic>
        <p:nvPicPr>
          <p:cNvPr id="15" name="Flèche 2" descr="img016.png"/>
          <p:cNvPicPr>
            <a:picLocks noChangeAspect="1"/>
          </p:cNvPicPr>
          <p:nvPr/>
        </p:nvPicPr>
        <p:blipFill>
          <a:blip r:embed="rId5"/>
          <a:stretch>
            <a:fillRect/>
          </a:stretch>
        </p:blipFill>
        <p:spPr>
          <a:xfrm>
            <a:off x="6007608" y="2916936"/>
            <a:ext cx="219456" cy="219456"/>
          </a:xfrm>
          <a:prstGeom prst="rect">
            <a:avLst/>
          </a:prstGeom>
        </p:spPr>
      </p:pic>
      <p:sp>
        <p:nvSpPr>
          <p:cNvPr id="16" name="Solution 2"/>
          <p:cNvSpPr txBox="1"/>
          <p:nvPr/>
        </p:nvSpPr>
        <p:spPr>
          <a:xfrm>
            <a:off x="6464808" y="2651760"/>
            <a:ext cx="4858207" cy="749808"/>
          </a:xfrm>
          <a:prstGeom prst="rect">
            <a:avLst/>
          </a:prstGeom>
          <a:noFill/>
        </p:spPr>
        <p:txBody>
          <a:bodyPr wrap="square" lIns="0" tIns="0" rIns="0" bIns="0" anchor="ctr">
            <a:noAutofit/>
          </a:bodyPr>
          <a:lstStyle/>
          <a:p>
            <a:pPr algn="l"/>
            <a:r>
              <a:rPr sz="1500" b="0" i="0">
                <a:solidFill>
                  <a:srgbClr val="F5EDDB"/>
                </a:solidFill>
                <a:latin typeface="Calibri"/>
              </a:rPr>
              <a:t>Pools d'objets ; ombres et effets réglés au casque.</a:t>
            </a:r>
          </a:p>
        </p:txBody>
      </p:sp>
      <p:pic>
        <p:nvPicPr>
          <p:cNvPr id="17" name="Ligne 3" descr="img044.png"/>
          <p:cNvPicPr>
            <a:picLocks noChangeAspect="1"/>
          </p:cNvPicPr>
          <p:nvPr/>
        </p:nvPicPr>
        <p:blipFill>
          <a:blip r:embed="rId4"/>
          <a:stretch>
            <a:fillRect/>
          </a:stretch>
        </p:blipFill>
        <p:spPr>
          <a:xfrm>
            <a:off x="548640" y="3520439"/>
            <a:ext cx="11094415" cy="749808"/>
          </a:xfrm>
          <a:prstGeom prst="rect">
            <a:avLst/>
          </a:prstGeom>
        </p:spPr>
      </p:pic>
      <p:sp>
        <p:nvSpPr>
          <p:cNvPr id="18" name="Problème 3"/>
          <p:cNvSpPr txBox="1"/>
          <p:nvPr/>
        </p:nvSpPr>
        <p:spPr>
          <a:xfrm>
            <a:off x="914400" y="3520439"/>
            <a:ext cx="4818888" cy="749808"/>
          </a:xfrm>
          <a:prstGeom prst="rect">
            <a:avLst/>
          </a:prstGeom>
          <a:noFill/>
        </p:spPr>
        <p:txBody>
          <a:bodyPr wrap="square" lIns="0" tIns="0" rIns="0" bIns="0" anchor="ctr">
            <a:noAutofit/>
          </a:bodyPr>
          <a:lstStyle/>
          <a:p>
            <a:pPr algn="l"/>
            <a:r>
              <a:rPr sz="1500" b="1" i="0">
                <a:solidFill>
                  <a:srgbClr val="F5EDDB"/>
                </a:solidFill>
                <a:latin typeface="Calibri"/>
              </a:rPr>
              <a:t>13 octobre : le PC tombe en panne, le travail pas poussé est perdu</a:t>
            </a:r>
          </a:p>
        </p:txBody>
      </p:sp>
      <p:pic>
        <p:nvPicPr>
          <p:cNvPr id="19" name="Flèche 3" descr="img016.png"/>
          <p:cNvPicPr>
            <a:picLocks noChangeAspect="1"/>
          </p:cNvPicPr>
          <p:nvPr/>
        </p:nvPicPr>
        <p:blipFill>
          <a:blip r:embed="rId5"/>
          <a:stretch>
            <a:fillRect/>
          </a:stretch>
        </p:blipFill>
        <p:spPr>
          <a:xfrm>
            <a:off x="6007608" y="3785615"/>
            <a:ext cx="219456" cy="219456"/>
          </a:xfrm>
          <a:prstGeom prst="rect">
            <a:avLst/>
          </a:prstGeom>
        </p:spPr>
      </p:pic>
      <p:sp>
        <p:nvSpPr>
          <p:cNvPr id="20" name="Solution 3"/>
          <p:cNvSpPr txBox="1"/>
          <p:nvPr/>
        </p:nvSpPr>
        <p:spPr>
          <a:xfrm>
            <a:off x="6464808" y="3520439"/>
            <a:ext cx="4858207" cy="749808"/>
          </a:xfrm>
          <a:prstGeom prst="rect">
            <a:avLst/>
          </a:prstGeom>
          <a:noFill/>
        </p:spPr>
        <p:txBody>
          <a:bodyPr wrap="square" lIns="0" tIns="0" rIns="0" bIns="0" anchor="ctr">
            <a:noAutofit/>
          </a:bodyPr>
          <a:lstStyle/>
          <a:p>
            <a:pPr algn="l"/>
            <a:r>
              <a:rPr sz="1500" b="0" i="0">
                <a:solidFill>
                  <a:srgbClr val="F5EDDB"/>
                </a:solidFill>
                <a:latin typeface="Calibri"/>
              </a:rPr>
              <a:t>Projet récupéré sur GitHub, boss final refait. Depuis, on pousse souvent.</a:t>
            </a:r>
          </a:p>
        </p:txBody>
      </p:sp>
      <p:pic>
        <p:nvPicPr>
          <p:cNvPr id="21" name="Ligne 4" descr="img044.png"/>
          <p:cNvPicPr>
            <a:picLocks noChangeAspect="1"/>
          </p:cNvPicPr>
          <p:nvPr/>
        </p:nvPicPr>
        <p:blipFill>
          <a:blip r:embed="rId4"/>
          <a:stretch>
            <a:fillRect/>
          </a:stretch>
        </p:blipFill>
        <p:spPr>
          <a:xfrm>
            <a:off x="548640" y="4389120"/>
            <a:ext cx="11094415" cy="749808"/>
          </a:xfrm>
          <a:prstGeom prst="rect">
            <a:avLst/>
          </a:prstGeom>
        </p:spPr>
      </p:pic>
      <p:sp>
        <p:nvSpPr>
          <p:cNvPr id="22" name="Problème 4"/>
          <p:cNvSpPr txBox="1"/>
          <p:nvPr/>
        </p:nvSpPr>
        <p:spPr>
          <a:xfrm>
            <a:off x="914400" y="4389120"/>
            <a:ext cx="4818888" cy="749808"/>
          </a:xfrm>
          <a:prstGeom prst="rect">
            <a:avLst/>
          </a:prstGeom>
          <a:noFill/>
        </p:spPr>
        <p:txBody>
          <a:bodyPr wrap="square" lIns="0" tIns="0" rIns="0" bIns="0" anchor="ctr">
            <a:noAutofit/>
          </a:bodyPr>
          <a:lstStyle/>
          <a:p>
            <a:pPr algn="l"/>
            <a:r>
              <a:rPr sz="1500" b="1" i="0">
                <a:solidFill>
                  <a:srgbClr val="F5EDDB"/>
                </a:solidFill>
                <a:latin typeface="Calibri"/>
              </a:rPr>
              <a:t>Le casque se figeait en pleine partie</a:t>
            </a:r>
          </a:p>
        </p:txBody>
      </p:sp>
      <p:pic>
        <p:nvPicPr>
          <p:cNvPr id="23" name="Flèche 4" descr="img016.png"/>
          <p:cNvPicPr>
            <a:picLocks noChangeAspect="1"/>
          </p:cNvPicPr>
          <p:nvPr/>
        </p:nvPicPr>
        <p:blipFill>
          <a:blip r:embed="rId5"/>
          <a:stretch>
            <a:fillRect/>
          </a:stretch>
        </p:blipFill>
        <p:spPr>
          <a:xfrm>
            <a:off x="6007608" y="4654296"/>
            <a:ext cx="219456" cy="219456"/>
          </a:xfrm>
          <a:prstGeom prst="rect">
            <a:avLst/>
          </a:prstGeom>
        </p:spPr>
      </p:pic>
      <p:sp>
        <p:nvSpPr>
          <p:cNvPr id="24" name="Solution 4"/>
          <p:cNvSpPr txBox="1"/>
          <p:nvPr/>
        </p:nvSpPr>
        <p:spPr>
          <a:xfrm>
            <a:off x="6464808" y="4389120"/>
            <a:ext cx="4858207" cy="749808"/>
          </a:xfrm>
          <a:prstGeom prst="rect">
            <a:avLst/>
          </a:prstGeom>
          <a:noFill/>
        </p:spPr>
        <p:txBody>
          <a:bodyPr wrap="square" lIns="0" tIns="0" rIns="0" bIns="0" anchor="ctr">
            <a:noAutofit/>
          </a:bodyPr>
          <a:lstStyle/>
          <a:p>
            <a:pPr algn="l"/>
            <a:r>
              <a:rPr sz="1500" b="0" i="0">
                <a:solidFill>
                  <a:srgbClr val="F5EDDB"/>
                </a:solidFill>
                <a:latin typeface="Calibri"/>
              </a:rPr>
              <a:t>Un bug du pilote NVIDIA : retour à une version plus ancienne.</a:t>
            </a:r>
          </a:p>
        </p:txBody>
      </p:sp>
      <p:pic>
        <p:nvPicPr>
          <p:cNvPr id="25" name="Ligne 5" descr="img044.png"/>
          <p:cNvPicPr>
            <a:picLocks noChangeAspect="1"/>
          </p:cNvPicPr>
          <p:nvPr/>
        </p:nvPicPr>
        <p:blipFill>
          <a:blip r:embed="rId4"/>
          <a:stretch>
            <a:fillRect/>
          </a:stretch>
        </p:blipFill>
        <p:spPr>
          <a:xfrm>
            <a:off x="548640" y="5257800"/>
            <a:ext cx="11094415" cy="749808"/>
          </a:xfrm>
          <a:prstGeom prst="rect">
            <a:avLst/>
          </a:prstGeom>
        </p:spPr>
      </p:pic>
      <p:sp>
        <p:nvSpPr>
          <p:cNvPr id="26" name="Problème 5"/>
          <p:cNvSpPr txBox="1"/>
          <p:nvPr/>
        </p:nvSpPr>
        <p:spPr>
          <a:xfrm>
            <a:off x="914400" y="5257800"/>
            <a:ext cx="4818888" cy="749808"/>
          </a:xfrm>
          <a:prstGeom prst="rect">
            <a:avLst/>
          </a:prstGeom>
          <a:noFill/>
        </p:spPr>
        <p:txBody>
          <a:bodyPr wrap="square" lIns="0" tIns="0" rIns="0" bIns="0" anchor="ctr">
            <a:noAutofit/>
          </a:bodyPr>
          <a:lstStyle/>
          <a:p>
            <a:pPr algn="l"/>
            <a:r>
              <a:rPr sz="1500" b="1" i="0">
                <a:solidFill>
                  <a:srgbClr val="F5EDDB"/>
                </a:solidFill>
                <a:latin typeface="Calibri"/>
              </a:rPr>
              <a:t>Un geste VR qui marche vraiment : le katana</a:t>
            </a:r>
          </a:p>
        </p:txBody>
      </p:sp>
      <p:pic>
        <p:nvPicPr>
          <p:cNvPr id="27" name="Flèche 5" descr="img016.png"/>
          <p:cNvPicPr>
            <a:picLocks noChangeAspect="1"/>
          </p:cNvPicPr>
          <p:nvPr/>
        </p:nvPicPr>
        <p:blipFill>
          <a:blip r:embed="rId5"/>
          <a:stretch>
            <a:fillRect/>
          </a:stretch>
        </p:blipFill>
        <p:spPr>
          <a:xfrm>
            <a:off x="6007608" y="5522976"/>
            <a:ext cx="219456" cy="219456"/>
          </a:xfrm>
          <a:prstGeom prst="rect">
            <a:avLst/>
          </a:prstGeom>
        </p:spPr>
      </p:pic>
      <p:sp>
        <p:nvSpPr>
          <p:cNvPr id="28" name="Solution 5"/>
          <p:cNvSpPr txBox="1"/>
          <p:nvPr/>
        </p:nvSpPr>
        <p:spPr>
          <a:xfrm>
            <a:off x="6464808" y="5257800"/>
            <a:ext cx="4858207" cy="749808"/>
          </a:xfrm>
          <a:prstGeom prst="rect">
            <a:avLst/>
          </a:prstGeom>
          <a:noFill/>
        </p:spPr>
        <p:txBody>
          <a:bodyPr wrap="square" lIns="0" tIns="0" rIns="0" bIns="0" anchor="ctr">
            <a:noAutofit/>
          </a:bodyPr>
          <a:lstStyle/>
          <a:p>
            <a:pPr algn="l"/>
            <a:r>
              <a:rPr sz="1500" b="0" i="0">
                <a:solidFill>
                  <a:srgbClr val="F5EDDB"/>
                </a:solidFill>
                <a:latin typeface="Calibri"/>
              </a:rPr>
              <a:t>Refait trois fois, testé au casque à chaque version.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ond" descr="img001.png"/>
          <p:cNvPicPr>
            <a:picLocks noChangeAspect="1"/>
          </p:cNvPicPr>
          <p:nvPr/>
        </p:nvPicPr>
        <p:blipFill>
          <a:blip r:embed="rId3"/>
          <a:stretch>
            <a:fillRect/>
          </a:stretch>
        </p:blipFill>
        <p:spPr>
          <a:xfrm>
            <a:off x="0" y="0"/>
            <a:ext cx="12191695" cy="6858000"/>
          </a:xfrm>
          <a:prstGeom prst="rect">
            <a:avLst/>
          </a:prstGeom>
        </p:spPr>
      </p:pic>
      <p:sp>
        <p:nvSpPr>
          <p:cNvPr id="3" name="Titre"/>
          <p:cNvSpPr txBox="1"/>
          <p:nvPr/>
        </p:nvSpPr>
        <p:spPr>
          <a:xfrm>
            <a:off x="548640" y="411480"/>
            <a:ext cx="9326880" cy="731520"/>
          </a:xfrm>
          <a:prstGeom prst="rect">
            <a:avLst/>
          </a:prstGeom>
          <a:noFill/>
        </p:spPr>
        <p:txBody>
          <a:bodyPr wrap="square" lIns="0" tIns="0" rIns="0" bIns="0" anchor="ctr">
            <a:noAutofit/>
          </a:bodyPr>
          <a:lstStyle/>
          <a:p>
            <a:pPr algn="l"/>
            <a:r>
              <a:rPr sz="3200" b="0"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inzel Decorative"/>
              </a:rPr>
              <a:t>Qui a fait quoi</a:t>
            </a:r>
          </a:p>
        </p:txBody>
      </p:sp>
      <p:sp>
        <p:nvSpPr>
          <p:cNvPr id="4" name="Orateur"/>
          <p:cNvSpPr txBox="1"/>
          <p:nvPr/>
        </p:nvSpPr>
        <p:spPr>
          <a:xfrm>
            <a:off x="9509760" y="566928"/>
            <a:ext cx="2133295" cy="411480"/>
          </a:xfrm>
          <a:prstGeom prst="rect">
            <a:avLst/>
          </a:prstGeom>
          <a:noFill/>
        </p:spPr>
        <p:txBody>
          <a:bodyPr wrap="square" lIns="0" tIns="0" rIns="0" bIns="0" anchor="ctr">
            <a:noAutofit/>
          </a:bodyPr>
          <a:lstStyle/>
          <a:p>
            <a:pPr algn="r"/>
            <a:r>
              <a:rPr sz="1400" b="0" i="0" spc="250">
                <a:solidFill>
                  <a:srgbClr val="66F28C"/>
                </a:solidFill>
                <a:latin typeface="Cinzel"/>
              </a:rPr>
              <a:t>DOVIN</a:t>
            </a:r>
          </a:p>
        </p:txBody>
      </p:sp>
      <p:sp>
        <p:nvSpPr>
          <p:cNvPr id="5" name="Pied"/>
          <p:cNvSpPr txBox="1"/>
          <p:nvPr/>
        </p:nvSpPr>
        <p:spPr>
          <a:xfrm>
            <a:off x="548640" y="6400800"/>
            <a:ext cx="2743200" cy="274320"/>
          </a:xfrm>
          <a:prstGeom prst="rect">
            <a:avLst/>
          </a:prstGeom>
          <a:noFill/>
        </p:spPr>
        <p:txBody>
          <a:bodyPr wrap="square" lIns="0" tIns="0" rIns="0" bIns="0" anchor="t">
            <a:noAutofit/>
          </a:bodyPr>
          <a:lstStyle/>
          <a:p>
            <a:pPr algn="l"/>
            <a:r>
              <a:rPr sz="1000" b="0" i="0" spc="200">
                <a:solidFill>
                  <a:srgbClr val="A79FC4"/>
                </a:solidFill>
                <a:latin typeface="Cinzel"/>
              </a:rPr>
              <a:t>THUNK VR</a:t>
            </a:r>
          </a:p>
        </p:txBody>
      </p:sp>
      <p:sp>
        <p:nvSpPr>
          <p:cNvPr id="6" name="Numéro"/>
          <p:cNvSpPr txBox="1"/>
          <p:nvPr/>
        </p:nvSpPr>
        <p:spPr>
          <a:xfrm>
            <a:off x="10271455" y="6400800"/>
            <a:ext cx="1371600" cy="274320"/>
          </a:xfrm>
          <a:prstGeom prst="rect">
            <a:avLst/>
          </a:prstGeom>
          <a:noFill/>
        </p:spPr>
        <p:txBody>
          <a:bodyPr wrap="square" lIns="0" tIns="0" rIns="0" bIns="0" anchor="t">
            <a:noAutofit/>
          </a:bodyPr>
          <a:lstStyle/>
          <a:p>
            <a:pPr algn="r"/>
            <a:r>
              <a:rPr sz="1100" b="0" i="0">
                <a:solidFill>
                  <a:srgbClr val="A79FC4"/>
                </a:solidFill>
                <a:latin typeface="Calibri"/>
              </a:rPr>
              <a:t>9 / 12</a:t>
            </a:r>
          </a:p>
        </p:txBody>
      </p:sp>
      <p:pic>
        <p:nvPicPr>
          <p:cNvPr id="7" name="Membre 1" descr="img049.png"/>
          <p:cNvPicPr>
            <a:picLocks noChangeAspect="1"/>
          </p:cNvPicPr>
          <p:nvPr/>
        </p:nvPicPr>
        <p:blipFill>
          <a:blip r:embed="rId4"/>
          <a:stretch>
            <a:fillRect/>
          </a:stretch>
        </p:blipFill>
        <p:spPr>
          <a:xfrm>
            <a:off x="548640" y="1417320"/>
            <a:ext cx="5387187" cy="2240280"/>
          </a:xfrm>
          <a:prstGeom prst="rect">
            <a:avLst/>
          </a:prstGeom>
        </p:spPr>
      </p:pic>
      <p:pic>
        <p:nvPicPr>
          <p:cNvPr id="8" name="Icône Antonin" descr="img009.png"/>
          <p:cNvPicPr>
            <a:picLocks noChangeAspect="1"/>
          </p:cNvPicPr>
          <p:nvPr/>
        </p:nvPicPr>
        <p:blipFill>
          <a:blip r:embed="rId5"/>
          <a:stretch>
            <a:fillRect/>
          </a:stretch>
        </p:blipFill>
        <p:spPr>
          <a:xfrm>
            <a:off x="914400" y="1801368"/>
            <a:ext cx="384048" cy="384048"/>
          </a:xfrm>
          <a:prstGeom prst="rect">
            <a:avLst/>
          </a:prstGeom>
        </p:spPr>
      </p:pic>
      <p:sp>
        <p:nvSpPr>
          <p:cNvPr id="9" name="Texte Antonin"/>
          <p:cNvSpPr txBox="1"/>
          <p:nvPr/>
        </p:nvSpPr>
        <p:spPr>
          <a:xfrm>
            <a:off x="1508760" y="1709928"/>
            <a:ext cx="4061307" cy="1737360"/>
          </a:xfrm>
          <a:prstGeom prst="rect">
            <a:avLst/>
          </a:prstGeom>
          <a:noFill/>
        </p:spPr>
        <p:txBody>
          <a:bodyPr wrap="square" lIns="0" tIns="0" rIns="0" bIns="0" anchor="t">
            <a:noAutofit/>
          </a:bodyPr>
          <a:lstStyle/>
          <a:p>
            <a:pPr algn="l">
              <a:spcAft>
                <a:spcPts val="200"/>
              </a:spcAft>
            </a:pPr>
            <a:r>
              <a:rPr sz="1900" b="1" i="0">
                <a:solidFill>
                  <a:srgbClr val="FFBD40"/>
                </a:solidFill>
                <a:latin typeface="Calibri"/>
              </a:rPr>
              <a:t>Antonin Croquette</a:t>
            </a:r>
          </a:p>
          <a:p>
            <a:pPr algn="l">
              <a:spcAft>
                <a:spcPts val="800"/>
              </a:spcAft>
            </a:pPr>
            <a:r>
              <a:rPr sz="1100" b="0" i="0" spc="120">
                <a:solidFill>
                  <a:srgbClr val="FFCC61"/>
                </a:solidFill>
                <a:latin typeface="Cinzel"/>
              </a:rPr>
              <a:t>LEAD DEVELOPER</a:t>
            </a:r>
          </a:p>
          <a:p>
            <a:pPr algn="l"/>
            <a:r>
              <a:rPr sz="1500" b="0" i="0">
                <a:solidFill>
                  <a:srgbClr val="F5EDDB"/>
                </a:solidFill>
                <a:latin typeface="Calibri"/>
              </a:rPr>
              <a:t>Le GDD, le code du jeu, le montage des scènes, l'intégration des branches de l'équipe.</a:t>
            </a:r>
          </a:p>
        </p:txBody>
      </p:sp>
      <p:pic>
        <p:nvPicPr>
          <p:cNvPr id="10" name="Membre 2" descr="img049.png"/>
          <p:cNvPicPr>
            <a:picLocks noChangeAspect="1"/>
          </p:cNvPicPr>
          <p:nvPr/>
        </p:nvPicPr>
        <p:blipFill>
          <a:blip r:embed="rId4"/>
          <a:stretch>
            <a:fillRect/>
          </a:stretch>
        </p:blipFill>
        <p:spPr>
          <a:xfrm>
            <a:off x="6255867" y="1417320"/>
            <a:ext cx="5387187" cy="2240280"/>
          </a:xfrm>
          <a:prstGeom prst="rect">
            <a:avLst/>
          </a:prstGeom>
        </p:spPr>
      </p:pic>
      <p:pic>
        <p:nvPicPr>
          <p:cNvPr id="11" name="Icône Jude" descr="img052.png"/>
          <p:cNvPicPr>
            <a:picLocks noChangeAspect="1"/>
          </p:cNvPicPr>
          <p:nvPr/>
        </p:nvPicPr>
        <p:blipFill>
          <a:blip r:embed="rId6"/>
          <a:stretch>
            <a:fillRect/>
          </a:stretch>
        </p:blipFill>
        <p:spPr>
          <a:xfrm>
            <a:off x="6621627" y="1801368"/>
            <a:ext cx="384048" cy="384048"/>
          </a:xfrm>
          <a:prstGeom prst="rect">
            <a:avLst/>
          </a:prstGeom>
        </p:spPr>
      </p:pic>
      <p:sp>
        <p:nvSpPr>
          <p:cNvPr id="12" name="Texte Jude"/>
          <p:cNvSpPr txBox="1"/>
          <p:nvPr/>
        </p:nvSpPr>
        <p:spPr>
          <a:xfrm>
            <a:off x="7215987" y="1709928"/>
            <a:ext cx="4061307" cy="1737360"/>
          </a:xfrm>
          <a:prstGeom prst="rect">
            <a:avLst/>
          </a:prstGeom>
          <a:noFill/>
        </p:spPr>
        <p:txBody>
          <a:bodyPr wrap="square" lIns="0" tIns="0" rIns="0" bIns="0" anchor="t">
            <a:noAutofit/>
          </a:bodyPr>
          <a:lstStyle/>
          <a:p>
            <a:pPr algn="l">
              <a:spcAft>
                <a:spcPts val="200"/>
              </a:spcAft>
            </a:pPr>
            <a:r>
              <a:rPr sz="1900" b="1" i="0">
                <a:solidFill>
                  <a:srgbClr val="F259D9"/>
                </a:solidFill>
                <a:latin typeface="Calibri"/>
              </a:rPr>
              <a:t>Jude Aybalen</a:t>
            </a:r>
          </a:p>
          <a:p>
            <a:pPr algn="l">
              <a:spcAft>
                <a:spcPts val="800"/>
              </a:spcAft>
            </a:pPr>
            <a:r>
              <a:rPr sz="1100" b="0" i="0" spc="120">
                <a:solidFill>
                  <a:srgbClr val="FFCC61"/>
                </a:solidFill>
                <a:latin typeface="Cinzel"/>
              </a:rPr>
              <a:t>SCOPE DE DÉPART, EN PARTIE · LES CLASSES</a:t>
            </a:r>
          </a:p>
          <a:p>
            <a:pPr algn="l"/>
            <a:r>
              <a:rPr sz="1500" b="0" i="0">
                <a:solidFill>
                  <a:srgbClr val="F5EDDB"/>
                </a:solidFill>
                <a:latin typeface="Calibri"/>
              </a:rPr>
              <a:t>Le menu des armes, les succès qui débloquent les arcs, les arcs court, puissant et runique.</a:t>
            </a:r>
          </a:p>
        </p:txBody>
      </p:sp>
      <p:pic>
        <p:nvPicPr>
          <p:cNvPr id="13" name="Membre 3" descr="img049.png"/>
          <p:cNvPicPr>
            <a:picLocks noChangeAspect="1"/>
          </p:cNvPicPr>
          <p:nvPr/>
        </p:nvPicPr>
        <p:blipFill>
          <a:blip r:embed="rId4"/>
          <a:stretch>
            <a:fillRect/>
          </a:stretch>
        </p:blipFill>
        <p:spPr>
          <a:xfrm>
            <a:off x="548640" y="3977640"/>
            <a:ext cx="5387187" cy="2240280"/>
          </a:xfrm>
          <a:prstGeom prst="rect">
            <a:avLst/>
          </a:prstGeom>
        </p:spPr>
      </p:pic>
      <p:pic>
        <p:nvPicPr>
          <p:cNvPr id="14" name="Icône Dovin" descr="img054.png"/>
          <p:cNvPicPr>
            <a:picLocks noChangeAspect="1"/>
          </p:cNvPicPr>
          <p:nvPr/>
        </p:nvPicPr>
        <p:blipFill>
          <a:blip r:embed="rId7"/>
          <a:stretch>
            <a:fillRect/>
          </a:stretch>
        </p:blipFill>
        <p:spPr>
          <a:xfrm>
            <a:off x="914400" y="4361688"/>
            <a:ext cx="384048" cy="384048"/>
          </a:xfrm>
          <a:prstGeom prst="rect">
            <a:avLst/>
          </a:prstGeom>
        </p:spPr>
      </p:pic>
      <p:sp>
        <p:nvSpPr>
          <p:cNvPr id="15" name="Texte Dovin"/>
          <p:cNvSpPr txBox="1"/>
          <p:nvPr/>
        </p:nvSpPr>
        <p:spPr>
          <a:xfrm>
            <a:off x="1508760" y="4270248"/>
            <a:ext cx="4061307" cy="1737360"/>
          </a:xfrm>
          <a:prstGeom prst="rect">
            <a:avLst/>
          </a:prstGeom>
          <a:noFill/>
        </p:spPr>
        <p:txBody>
          <a:bodyPr wrap="square" lIns="0" tIns="0" rIns="0" bIns="0" anchor="t">
            <a:noAutofit/>
          </a:bodyPr>
          <a:lstStyle/>
          <a:p>
            <a:pPr algn="l">
              <a:spcAft>
                <a:spcPts val="200"/>
              </a:spcAft>
            </a:pPr>
            <a:r>
              <a:rPr sz="1900" b="1" i="0">
                <a:solidFill>
                  <a:srgbClr val="66F28C"/>
                </a:solidFill>
                <a:latin typeface="Calibri"/>
              </a:rPr>
              <a:t>Tchoffo Manfouo Dovin Vilson</a:t>
            </a:r>
          </a:p>
          <a:p>
            <a:pPr algn="l">
              <a:spcAft>
                <a:spcPts val="800"/>
              </a:spcAft>
            </a:pPr>
            <a:r>
              <a:rPr sz="1100" b="0" i="0" spc="120">
                <a:solidFill>
                  <a:srgbClr val="FFCC61"/>
                </a:solidFill>
                <a:latin typeface="Cinzel"/>
              </a:rPr>
              <a:t>SCOPE DE DÉPART, EN PARTIE · LA GRENADE · LES TESTS</a:t>
            </a:r>
          </a:p>
          <a:p>
            <a:pPr algn="l"/>
            <a:r>
              <a:rPr sz="1500" b="0" i="0">
                <a:solidFill>
                  <a:srgbClr val="F5EDDB"/>
                </a:solidFill>
                <a:latin typeface="Calibri"/>
              </a:rPr>
              <a:t>La grenade à flèches : ses scripts, son prefab, sa ceinture, son affichage sur la montre.</a:t>
            </a:r>
          </a:p>
        </p:txBody>
      </p:sp>
      <p:pic>
        <p:nvPicPr>
          <p:cNvPr id="16" name="Membre 4" descr="img049.png"/>
          <p:cNvPicPr>
            <a:picLocks noChangeAspect="1"/>
          </p:cNvPicPr>
          <p:nvPr/>
        </p:nvPicPr>
        <p:blipFill>
          <a:blip r:embed="rId4"/>
          <a:stretch>
            <a:fillRect/>
          </a:stretch>
        </p:blipFill>
        <p:spPr>
          <a:xfrm>
            <a:off x="6255867" y="3977640"/>
            <a:ext cx="5387187" cy="2240280"/>
          </a:xfrm>
          <a:prstGeom prst="rect">
            <a:avLst/>
          </a:prstGeom>
        </p:spPr>
      </p:pic>
      <p:pic>
        <p:nvPicPr>
          <p:cNvPr id="17" name="Icône Merleau" descr="img056.png"/>
          <p:cNvPicPr>
            <a:picLocks noChangeAspect="1"/>
          </p:cNvPicPr>
          <p:nvPr/>
        </p:nvPicPr>
        <p:blipFill>
          <a:blip r:embed="rId8"/>
          <a:stretch>
            <a:fillRect/>
          </a:stretch>
        </p:blipFill>
        <p:spPr>
          <a:xfrm>
            <a:off x="6621627" y="4361688"/>
            <a:ext cx="384048" cy="384048"/>
          </a:xfrm>
          <a:prstGeom prst="rect">
            <a:avLst/>
          </a:prstGeom>
        </p:spPr>
      </p:pic>
      <p:sp>
        <p:nvSpPr>
          <p:cNvPr id="18" name="Texte Merleau"/>
          <p:cNvSpPr txBox="1"/>
          <p:nvPr/>
        </p:nvSpPr>
        <p:spPr>
          <a:xfrm>
            <a:off x="7215987" y="4270248"/>
            <a:ext cx="4061307" cy="1737360"/>
          </a:xfrm>
          <a:prstGeom prst="rect">
            <a:avLst/>
          </a:prstGeom>
          <a:noFill/>
        </p:spPr>
        <p:txBody>
          <a:bodyPr wrap="square" lIns="0" tIns="0" rIns="0" bIns="0" anchor="t">
            <a:noAutofit/>
          </a:bodyPr>
          <a:lstStyle/>
          <a:p>
            <a:pPr algn="l">
              <a:spcAft>
                <a:spcPts val="200"/>
              </a:spcAft>
            </a:pPr>
            <a:r>
              <a:rPr sz="1900" b="1" i="0">
                <a:solidFill>
                  <a:srgbClr val="4DD9FF"/>
                </a:solidFill>
                <a:latin typeface="Calibri"/>
              </a:rPr>
              <a:t>Merleau Gezo</a:t>
            </a:r>
          </a:p>
          <a:p>
            <a:pPr algn="l">
              <a:spcAft>
                <a:spcPts val="800"/>
              </a:spcAft>
            </a:pPr>
            <a:r>
              <a:rPr sz="1100" b="0" i="0" spc="120">
                <a:solidFill>
                  <a:srgbClr val="FFCC61"/>
                </a:solidFill>
                <a:latin typeface="Cinzel"/>
              </a:rPr>
              <a:t>SCOPE DE DÉPART, EN PARTIE · LES TESTS</a:t>
            </a:r>
          </a:p>
          <a:p>
            <a:pPr algn="l"/>
            <a:r>
              <a:rPr sz="1500" b="0" i="0">
                <a:solidFill>
                  <a:srgbClr val="F5EDDB"/>
                </a:solidFill>
                <a:latin typeface="Calibri"/>
              </a:rPr>
              <a:t>Tester le jeu et faire remonter les bugs.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ond" descr="img001.png"/>
          <p:cNvPicPr>
            <a:picLocks noChangeAspect="1"/>
          </p:cNvPicPr>
          <p:nvPr/>
        </p:nvPicPr>
        <p:blipFill>
          <a:blip r:embed="rId3"/>
          <a:stretch>
            <a:fillRect/>
          </a:stretch>
        </p:blipFill>
        <p:spPr>
          <a:xfrm>
            <a:off x="0" y="0"/>
            <a:ext cx="12191695" cy="6858000"/>
          </a:xfrm>
          <a:prstGeom prst="rect">
            <a:avLst/>
          </a:prstGeom>
        </p:spPr>
      </p:pic>
      <p:sp>
        <p:nvSpPr>
          <p:cNvPr id="3" name="Titre"/>
          <p:cNvSpPr txBox="1"/>
          <p:nvPr/>
        </p:nvSpPr>
        <p:spPr>
          <a:xfrm>
            <a:off x="548640" y="411480"/>
            <a:ext cx="9326880" cy="731520"/>
          </a:xfrm>
          <a:prstGeom prst="rect">
            <a:avLst/>
          </a:prstGeom>
          <a:noFill/>
        </p:spPr>
        <p:txBody>
          <a:bodyPr wrap="square" lIns="0" tIns="0" rIns="0" bIns="0" anchor="ctr">
            <a:noAutofit/>
          </a:bodyPr>
          <a:lstStyle/>
          <a:p>
            <a:pPr algn="l"/>
            <a:r>
              <a:rPr sz="3200" b="0"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inzel Decorative"/>
              </a:rPr>
              <a:t>Travailler à quatre</a:t>
            </a:r>
          </a:p>
        </p:txBody>
      </p:sp>
      <p:sp>
        <p:nvSpPr>
          <p:cNvPr id="4" name="Orateur"/>
          <p:cNvSpPr txBox="1"/>
          <p:nvPr/>
        </p:nvSpPr>
        <p:spPr>
          <a:xfrm>
            <a:off x="9509760" y="566928"/>
            <a:ext cx="2133295" cy="411480"/>
          </a:xfrm>
          <a:prstGeom prst="rect">
            <a:avLst/>
          </a:prstGeom>
          <a:noFill/>
        </p:spPr>
        <p:txBody>
          <a:bodyPr wrap="square" lIns="0" tIns="0" rIns="0" bIns="0" anchor="ctr">
            <a:noAutofit/>
          </a:bodyPr>
          <a:lstStyle/>
          <a:p>
            <a:pPr algn="r"/>
            <a:r>
              <a:rPr sz="1400" b="0" i="0" spc="250">
                <a:solidFill>
                  <a:srgbClr val="66F28C"/>
                </a:solidFill>
                <a:latin typeface="Cinzel"/>
              </a:rPr>
              <a:t>DOVIN</a:t>
            </a:r>
          </a:p>
        </p:txBody>
      </p:sp>
      <p:sp>
        <p:nvSpPr>
          <p:cNvPr id="5" name="Pied"/>
          <p:cNvSpPr txBox="1"/>
          <p:nvPr/>
        </p:nvSpPr>
        <p:spPr>
          <a:xfrm>
            <a:off x="548640" y="6400800"/>
            <a:ext cx="2743200" cy="274320"/>
          </a:xfrm>
          <a:prstGeom prst="rect">
            <a:avLst/>
          </a:prstGeom>
          <a:noFill/>
        </p:spPr>
        <p:txBody>
          <a:bodyPr wrap="square" lIns="0" tIns="0" rIns="0" bIns="0" anchor="t">
            <a:noAutofit/>
          </a:bodyPr>
          <a:lstStyle/>
          <a:p>
            <a:pPr algn="l"/>
            <a:r>
              <a:rPr sz="1000" b="0" i="0" spc="200">
                <a:solidFill>
                  <a:srgbClr val="A79FC4"/>
                </a:solidFill>
                <a:latin typeface="Cinzel"/>
              </a:rPr>
              <a:t>THUNK VR</a:t>
            </a:r>
          </a:p>
        </p:txBody>
      </p:sp>
      <p:sp>
        <p:nvSpPr>
          <p:cNvPr id="6" name="Numéro"/>
          <p:cNvSpPr txBox="1"/>
          <p:nvPr/>
        </p:nvSpPr>
        <p:spPr>
          <a:xfrm>
            <a:off x="10271455" y="6400800"/>
            <a:ext cx="1371600" cy="274320"/>
          </a:xfrm>
          <a:prstGeom prst="rect">
            <a:avLst/>
          </a:prstGeom>
          <a:noFill/>
        </p:spPr>
        <p:txBody>
          <a:bodyPr wrap="square" lIns="0" tIns="0" rIns="0" bIns="0" anchor="t">
            <a:noAutofit/>
          </a:bodyPr>
          <a:lstStyle/>
          <a:p>
            <a:pPr algn="r"/>
            <a:r>
              <a:rPr sz="1100" b="0" i="0">
                <a:solidFill>
                  <a:srgbClr val="A79FC4"/>
                </a:solidFill>
                <a:latin typeface="Calibri"/>
              </a:rPr>
              <a:t>10 / 12</a:t>
            </a:r>
          </a:p>
        </p:txBody>
      </p:sp>
      <p:cxnSp>
        <p:nvCxnSpPr>
          <p:cNvPr id="7" name="Tower defense départ"/>
          <p:cNvCxnSpPr/>
          <p:nvPr/>
        </p:nvCxnSpPr>
        <p:spPr>
          <a:xfrm flipV="1">
            <a:off x="5021362" y="1810512"/>
            <a:ext cx="256032" cy="566928"/>
          </a:xfrm>
          <a:prstGeom prst="line">
            <a:avLst/>
          </a:prstGeom>
          <a:ln w="38100">
            <a:solidFill>
              <a:srgbClr val="FFBD40"/>
            </a:solidFill>
          </a:ln>
        </p:spPr>
        <p:style>
          <a:lnRef idx="2">
            <a:schemeClr val="accent1"/>
          </a:lnRef>
          <a:fillRef idx="0">
            <a:schemeClr val="accent1"/>
          </a:fillRef>
          <a:effectRef idx="1">
            <a:schemeClr val="accent1"/>
          </a:effectRef>
          <a:fontRef idx="minor">
            <a:schemeClr val="tx1"/>
          </a:fontRef>
        </p:style>
      </p:cxnSp>
      <p:cxnSp>
        <p:nvCxnSpPr>
          <p:cNvPr id="8" name="Tower defense branche"/>
          <p:cNvCxnSpPr/>
          <p:nvPr/>
        </p:nvCxnSpPr>
        <p:spPr>
          <a:xfrm>
            <a:off x="5277394" y="1810512"/>
            <a:ext cx="320040" cy="0"/>
          </a:xfrm>
          <a:prstGeom prst="line">
            <a:avLst/>
          </a:prstGeom>
          <a:ln w="38100">
            <a:solidFill>
              <a:srgbClr val="FFBD40"/>
            </a:solidFill>
          </a:ln>
        </p:spPr>
        <p:style>
          <a:lnRef idx="2">
            <a:schemeClr val="accent1"/>
          </a:lnRef>
          <a:fillRef idx="0">
            <a:schemeClr val="accent1"/>
          </a:fillRef>
          <a:effectRef idx="1">
            <a:schemeClr val="accent1"/>
          </a:effectRef>
          <a:fontRef idx="minor">
            <a:schemeClr val="tx1"/>
          </a:fontRef>
        </p:style>
      </p:cxnSp>
      <p:cxnSp>
        <p:nvCxnSpPr>
          <p:cNvPr id="9" name="Tower defense fusion"/>
          <p:cNvCxnSpPr/>
          <p:nvPr/>
        </p:nvCxnSpPr>
        <p:spPr>
          <a:xfrm>
            <a:off x="5597434" y="1810512"/>
            <a:ext cx="256032" cy="566928"/>
          </a:xfrm>
          <a:prstGeom prst="line">
            <a:avLst/>
          </a:prstGeom>
          <a:ln w="38100">
            <a:solidFill>
              <a:srgbClr val="FFBD40"/>
            </a:solidFill>
          </a:ln>
        </p:spPr>
        <p:style>
          <a:lnRef idx="2">
            <a:schemeClr val="accent1"/>
          </a:lnRef>
          <a:fillRef idx="0">
            <a:schemeClr val="accent1"/>
          </a:fillRef>
          <a:effectRef idx="1">
            <a:schemeClr val="accent1"/>
          </a:effectRef>
          <a:fontRef idx="minor">
            <a:schemeClr val="tx1"/>
          </a:fontRef>
        </p:style>
      </p:cxnSp>
      <p:cxnSp>
        <p:nvCxnSpPr>
          <p:cNvPr id="10" name="Classes départ"/>
          <p:cNvCxnSpPr/>
          <p:nvPr/>
        </p:nvCxnSpPr>
        <p:spPr>
          <a:xfrm flipV="1">
            <a:off x="8414700" y="1810512"/>
            <a:ext cx="256032" cy="566928"/>
          </a:xfrm>
          <a:prstGeom prst="line">
            <a:avLst/>
          </a:prstGeom>
          <a:ln w="38100">
            <a:solidFill>
              <a:srgbClr val="F259D9"/>
            </a:solidFill>
          </a:ln>
        </p:spPr>
        <p:style>
          <a:lnRef idx="2">
            <a:schemeClr val="accent1"/>
          </a:lnRef>
          <a:fillRef idx="0">
            <a:schemeClr val="accent1"/>
          </a:fillRef>
          <a:effectRef idx="1">
            <a:schemeClr val="accent1"/>
          </a:effectRef>
          <a:fontRef idx="minor">
            <a:schemeClr val="tx1"/>
          </a:fontRef>
        </p:style>
      </p:cxnSp>
      <p:cxnSp>
        <p:nvCxnSpPr>
          <p:cNvPr id="11" name="Classes branche"/>
          <p:cNvCxnSpPr/>
          <p:nvPr/>
        </p:nvCxnSpPr>
        <p:spPr>
          <a:xfrm>
            <a:off x="8670732" y="1810512"/>
            <a:ext cx="320040" cy="0"/>
          </a:xfrm>
          <a:prstGeom prst="line">
            <a:avLst/>
          </a:prstGeom>
          <a:ln w="38100">
            <a:solidFill>
              <a:srgbClr val="F259D9"/>
            </a:solidFill>
          </a:ln>
        </p:spPr>
        <p:style>
          <a:lnRef idx="2">
            <a:schemeClr val="accent1"/>
          </a:lnRef>
          <a:fillRef idx="0">
            <a:schemeClr val="accent1"/>
          </a:fillRef>
          <a:effectRef idx="1">
            <a:schemeClr val="accent1"/>
          </a:effectRef>
          <a:fontRef idx="minor">
            <a:schemeClr val="tx1"/>
          </a:fontRef>
        </p:style>
      </p:cxnSp>
      <p:cxnSp>
        <p:nvCxnSpPr>
          <p:cNvPr id="12" name="Classes fusion"/>
          <p:cNvCxnSpPr/>
          <p:nvPr/>
        </p:nvCxnSpPr>
        <p:spPr>
          <a:xfrm>
            <a:off x="8990772" y="1810512"/>
            <a:ext cx="256032" cy="566928"/>
          </a:xfrm>
          <a:prstGeom prst="line">
            <a:avLst/>
          </a:prstGeom>
          <a:ln w="38100">
            <a:solidFill>
              <a:srgbClr val="F259D9"/>
            </a:solidFill>
          </a:ln>
        </p:spPr>
        <p:style>
          <a:lnRef idx="2">
            <a:schemeClr val="accent1"/>
          </a:lnRef>
          <a:fillRef idx="0">
            <a:schemeClr val="accent1"/>
          </a:fillRef>
          <a:effectRef idx="1">
            <a:schemeClr val="accent1"/>
          </a:effectRef>
          <a:fontRef idx="minor">
            <a:schemeClr val="tx1"/>
          </a:fontRef>
        </p:style>
      </p:cxnSp>
      <p:cxnSp>
        <p:nvCxnSpPr>
          <p:cNvPr id="13" name="Grenade départ"/>
          <p:cNvCxnSpPr/>
          <p:nvPr/>
        </p:nvCxnSpPr>
        <p:spPr>
          <a:xfrm>
            <a:off x="6822991" y="2377440"/>
            <a:ext cx="256032" cy="566928"/>
          </a:xfrm>
          <a:prstGeom prst="line">
            <a:avLst/>
          </a:prstGeom>
          <a:ln w="38100">
            <a:solidFill>
              <a:srgbClr val="66F28C"/>
            </a:solidFill>
          </a:ln>
        </p:spPr>
        <p:style>
          <a:lnRef idx="2">
            <a:schemeClr val="accent1"/>
          </a:lnRef>
          <a:fillRef idx="0">
            <a:schemeClr val="accent1"/>
          </a:fillRef>
          <a:effectRef idx="1">
            <a:schemeClr val="accent1"/>
          </a:effectRef>
          <a:fontRef idx="minor">
            <a:schemeClr val="tx1"/>
          </a:fontRef>
        </p:style>
      </p:cxnSp>
      <p:cxnSp>
        <p:nvCxnSpPr>
          <p:cNvPr id="14" name="Grenade branche"/>
          <p:cNvCxnSpPr/>
          <p:nvPr/>
        </p:nvCxnSpPr>
        <p:spPr>
          <a:xfrm>
            <a:off x="7079023" y="2944368"/>
            <a:ext cx="3366037" cy="0"/>
          </a:xfrm>
          <a:prstGeom prst="line">
            <a:avLst/>
          </a:prstGeom>
          <a:ln w="38100">
            <a:solidFill>
              <a:srgbClr val="66F28C"/>
            </a:solidFill>
          </a:ln>
        </p:spPr>
        <p:style>
          <a:lnRef idx="2">
            <a:schemeClr val="accent1"/>
          </a:lnRef>
          <a:fillRef idx="0">
            <a:schemeClr val="accent1"/>
          </a:fillRef>
          <a:effectRef idx="1">
            <a:schemeClr val="accent1"/>
          </a:effectRef>
          <a:fontRef idx="minor">
            <a:schemeClr val="tx1"/>
          </a:fontRef>
        </p:style>
      </p:cxnSp>
      <p:cxnSp>
        <p:nvCxnSpPr>
          <p:cNvPr id="15" name="Grenade fusion"/>
          <p:cNvCxnSpPr/>
          <p:nvPr/>
        </p:nvCxnSpPr>
        <p:spPr>
          <a:xfrm flipV="1">
            <a:off x="10445060" y="2377440"/>
            <a:ext cx="256032" cy="566928"/>
          </a:xfrm>
          <a:prstGeom prst="line">
            <a:avLst/>
          </a:prstGeom>
          <a:ln w="38100">
            <a:solidFill>
              <a:srgbClr val="66F28C"/>
            </a:solidFill>
          </a:ln>
        </p:spPr>
        <p:style>
          <a:lnRef idx="2">
            <a:schemeClr val="accent1"/>
          </a:lnRef>
          <a:fillRef idx="0">
            <a:schemeClr val="accent1"/>
          </a:fillRef>
          <a:effectRef idx="1">
            <a:schemeClr val="accent1"/>
          </a:effectRef>
          <a:fontRef idx="minor">
            <a:schemeClr val="tx1"/>
          </a:fontRef>
        </p:style>
      </p:cxnSp>
      <p:cxnSp>
        <p:nvCxnSpPr>
          <p:cNvPr id="16" name="main"/>
          <p:cNvCxnSpPr/>
          <p:nvPr/>
        </p:nvCxnSpPr>
        <p:spPr>
          <a:xfrm>
            <a:off x="1005840" y="2377440"/>
            <a:ext cx="10180015" cy="0"/>
          </a:xfrm>
          <a:prstGeom prst="line">
            <a:avLst/>
          </a:prstGeom>
          <a:ln w="44450">
            <a:solidFill>
              <a:srgbClr val="FFCC61"/>
            </a:solidFill>
          </a:ln>
        </p:spPr>
        <p:style>
          <a:lnRef idx="2">
            <a:schemeClr val="accent1"/>
          </a:lnRef>
          <a:fillRef idx="0">
            <a:schemeClr val="accent1"/>
          </a:fillRef>
          <a:effectRef idx="1">
            <a:schemeClr val="accent1"/>
          </a:effectRef>
          <a:fontRef idx="minor">
            <a:schemeClr val="tx1"/>
          </a:fontRef>
        </p:style>
      </p:cxnSp>
      <p:cxnSp>
        <p:nvCxnSpPr>
          <p:cNvPr id="17" name="Mise à jour grenade 18"/>
          <p:cNvCxnSpPr/>
          <p:nvPr/>
        </p:nvCxnSpPr>
        <p:spPr>
          <a:xfrm>
            <a:off x="8762042" y="2377440"/>
            <a:ext cx="128016" cy="566928"/>
          </a:xfrm>
          <a:prstGeom prst="line">
            <a:avLst/>
          </a:prstGeom>
          <a:ln w="15875">
            <a:solidFill>
              <a:srgbClr val="66F28C"/>
            </a:solidFill>
          </a:ln>
        </p:spPr>
        <p:style>
          <a:lnRef idx="2">
            <a:schemeClr val="accent1"/>
          </a:lnRef>
          <a:fillRef idx="0">
            <a:schemeClr val="accent1"/>
          </a:fillRef>
          <a:effectRef idx="1">
            <a:schemeClr val="accent1"/>
          </a:effectRef>
          <a:fontRef idx="minor">
            <a:schemeClr val="tx1"/>
          </a:fontRef>
        </p:style>
      </p:cxnSp>
      <p:cxnSp>
        <p:nvCxnSpPr>
          <p:cNvPr id="18" name="Mise à jour grenade 21"/>
          <p:cNvCxnSpPr/>
          <p:nvPr/>
        </p:nvCxnSpPr>
        <p:spPr>
          <a:xfrm>
            <a:off x="10216329" y="2377440"/>
            <a:ext cx="128016" cy="566928"/>
          </a:xfrm>
          <a:prstGeom prst="line">
            <a:avLst/>
          </a:prstGeom>
          <a:ln w="15875">
            <a:solidFill>
              <a:srgbClr val="66F28C"/>
            </a:solidFill>
          </a:ln>
        </p:spPr>
        <p:style>
          <a:lnRef idx="2">
            <a:schemeClr val="accent1"/>
          </a:lnRef>
          <a:fillRef idx="0">
            <a:schemeClr val="accent1"/>
          </a:fillRef>
          <a:effectRef idx="1">
            <a:schemeClr val="accent1"/>
          </a:effectRef>
          <a:fontRef idx="minor">
            <a:schemeClr val="tx1"/>
          </a:fontRef>
        </p:style>
      </p:cxnSp>
      <p:sp>
        <p:nvSpPr>
          <p:cNvPr id="19" name="Repère 2"/>
          <p:cNvSpPr/>
          <p:nvPr/>
        </p:nvSpPr>
        <p:spPr>
          <a:xfrm>
            <a:off x="923544" y="2295144"/>
            <a:ext cx="164592" cy="164592"/>
          </a:xfrm>
          <a:prstGeom prst="ellipse">
            <a:avLst/>
          </a:prstGeom>
          <a:solidFill>
            <a:srgbClr val="FFCC61"/>
          </a:solidFill>
          <a:ln w="19050">
            <a:solidFill>
              <a:srgbClr val="0E09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père 12"/>
          <p:cNvSpPr/>
          <p:nvPr/>
        </p:nvSpPr>
        <p:spPr>
          <a:xfrm>
            <a:off x="5771170" y="2295144"/>
            <a:ext cx="164592" cy="164592"/>
          </a:xfrm>
          <a:prstGeom prst="ellipse">
            <a:avLst/>
          </a:prstGeom>
          <a:solidFill>
            <a:srgbClr val="FFBD40"/>
          </a:solidFill>
          <a:ln w="19050">
            <a:solidFill>
              <a:srgbClr val="0E09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père 13"/>
          <p:cNvSpPr/>
          <p:nvPr/>
        </p:nvSpPr>
        <p:spPr>
          <a:xfrm>
            <a:off x="6255932" y="2295144"/>
            <a:ext cx="164592" cy="164592"/>
          </a:xfrm>
          <a:prstGeom prst="ellipse">
            <a:avLst/>
          </a:prstGeom>
          <a:solidFill>
            <a:srgbClr val="E0475E"/>
          </a:solidFill>
          <a:ln w="19050">
            <a:solidFill>
              <a:srgbClr val="0E09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père 16.5"/>
          <p:cNvSpPr/>
          <p:nvPr/>
        </p:nvSpPr>
        <p:spPr>
          <a:xfrm>
            <a:off x="7952602" y="2295144"/>
            <a:ext cx="164592" cy="164592"/>
          </a:xfrm>
          <a:prstGeom prst="ellipse">
            <a:avLst/>
          </a:prstGeom>
          <a:solidFill>
            <a:srgbClr val="4DD9FF"/>
          </a:solidFill>
          <a:ln w="19050">
            <a:solidFill>
              <a:srgbClr val="0E09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père 19"/>
          <p:cNvSpPr/>
          <p:nvPr/>
        </p:nvSpPr>
        <p:spPr>
          <a:xfrm>
            <a:off x="9164508" y="2295144"/>
            <a:ext cx="164592" cy="164592"/>
          </a:xfrm>
          <a:prstGeom prst="ellipse">
            <a:avLst/>
          </a:prstGeom>
          <a:solidFill>
            <a:srgbClr val="F259D9"/>
          </a:solidFill>
          <a:ln w="19050">
            <a:solidFill>
              <a:srgbClr val="0E09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père 22"/>
          <p:cNvSpPr/>
          <p:nvPr/>
        </p:nvSpPr>
        <p:spPr>
          <a:xfrm>
            <a:off x="10618796" y="2295144"/>
            <a:ext cx="164592" cy="164592"/>
          </a:xfrm>
          <a:prstGeom prst="ellipse">
            <a:avLst/>
          </a:prstGeom>
          <a:solidFill>
            <a:srgbClr val="66F28C"/>
          </a:solidFill>
          <a:ln w="19050">
            <a:solidFill>
              <a:srgbClr val="0E09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père 23"/>
          <p:cNvSpPr/>
          <p:nvPr/>
        </p:nvSpPr>
        <p:spPr>
          <a:xfrm>
            <a:off x="11103559" y="2295144"/>
            <a:ext cx="164592" cy="164592"/>
          </a:xfrm>
          <a:prstGeom prst="ellipse">
            <a:avLst/>
          </a:prstGeom>
          <a:solidFill>
            <a:srgbClr val="FFCC61"/>
          </a:solidFill>
          <a:ln w="19050">
            <a:solidFill>
              <a:srgbClr val="0E092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Étiquette 13 OCT · PANNE DU PC"/>
          <p:cNvSpPr txBox="1"/>
          <p:nvPr/>
        </p:nvSpPr>
        <p:spPr>
          <a:xfrm>
            <a:off x="6265076" y="2011680"/>
            <a:ext cx="2103120" cy="274320"/>
          </a:xfrm>
          <a:prstGeom prst="rect">
            <a:avLst/>
          </a:prstGeom>
          <a:noFill/>
        </p:spPr>
        <p:txBody>
          <a:bodyPr wrap="square" lIns="0" tIns="0" rIns="0" bIns="0" anchor="t">
            <a:noAutofit/>
          </a:bodyPr>
          <a:lstStyle/>
          <a:p>
            <a:pPr algn="l"/>
            <a:r>
              <a:rPr sz="1100" b="0" i="0" spc="100">
                <a:solidFill>
                  <a:srgbClr val="E0475E"/>
                </a:solidFill>
                <a:latin typeface="Cinzel"/>
              </a:rPr>
              <a:t>13 OCT · PANNE DU PC</a:t>
            </a:r>
          </a:p>
        </p:txBody>
      </p:sp>
      <p:sp>
        <p:nvSpPr>
          <p:cNvPr id="27" name="Étiquette 23 OCT · DÉMO"/>
          <p:cNvSpPr txBox="1"/>
          <p:nvPr/>
        </p:nvSpPr>
        <p:spPr>
          <a:xfrm>
            <a:off x="9448495" y="2011680"/>
            <a:ext cx="1828800" cy="274320"/>
          </a:xfrm>
          <a:prstGeom prst="rect">
            <a:avLst/>
          </a:prstGeom>
          <a:noFill/>
        </p:spPr>
        <p:txBody>
          <a:bodyPr wrap="square" lIns="0" tIns="0" rIns="0" bIns="0" anchor="t">
            <a:noAutofit/>
          </a:bodyPr>
          <a:lstStyle/>
          <a:p>
            <a:pPr algn="r"/>
            <a:r>
              <a:rPr sz="1100" b="0" i="0" spc="100">
                <a:solidFill>
                  <a:srgbClr val="FFCC61"/>
                </a:solidFill>
                <a:latin typeface="Cinzel"/>
              </a:rPr>
              <a:t>23 OCT · DÉMO</a:t>
            </a:r>
          </a:p>
        </p:txBody>
      </p:sp>
      <p:sp>
        <p:nvSpPr>
          <p:cNvPr id="28" name="Étiquette 2 OCT · DÉBUT"/>
          <p:cNvSpPr txBox="1"/>
          <p:nvPr/>
        </p:nvSpPr>
        <p:spPr>
          <a:xfrm>
            <a:off x="932688" y="2523744"/>
            <a:ext cx="2103120" cy="274320"/>
          </a:xfrm>
          <a:prstGeom prst="rect">
            <a:avLst/>
          </a:prstGeom>
          <a:noFill/>
        </p:spPr>
        <p:txBody>
          <a:bodyPr wrap="square" lIns="0" tIns="0" rIns="0" bIns="0" anchor="t">
            <a:noAutofit/>
          </a:bodyPr>
          <a:lstStyle/>
          <a:p>
            <a:pPr algn="l"/>
            <a:r>
              <a:rPr sz="1100" b="0" i="0" spc="100">
                <a:solidFill>
                  <a:srgbClr val="FFCC61"/>
                </a:solidFill>
                <a:latin typeface="Cinzel"/>
              </a:rPr>
              <a:t>2 OCT · DÉBUT</a:t>
            </a:r>
          </a:p>
        </p:txBody>
      </p:sp>
      <p:sp>
        <p:nvSpPr>
          <p:cNvPr id="29" name="Étiquette NUIT DES ASSOS"/>
          <p:cNvSpPr txBox="1"/>
          <p:nvPr/>
        </p:nvSpPr>
        <p:spPr>
          <a:xfrm>
            <a:off x="7303378" y="2523744"/>
            <a:ext cx="1463040" cy="274320"/>
          </a:xfrm>
          <a:prstGeom prst="rect">
            <a:avLst/>
          </a:prstGeom>
          <a:noFill/>
        </p:spPr>
        <p:txBody>
          <a:bodyPr wrap="square" lIns="0" tIns="0" rIns="0" bIns="0" anchor="t">
            <a:noAutofit/>
          </a:bodyPr>
          <a:lstStyle/>
          <a:p>
            <a:pPr algn="ctr"/>
            <a:r>
              <a:rPr sz="1100" b="0" i="0" spc="100">
                <a:solidFill>
                  <a:srgbClr val="4DD9FF"/>
                </a:solidFill>
                <a:latin typeface="Cinzel"/>
              </a:rPr>
              <a:t>NUIT DES ASSOS</a:t>
            </a:r>
          </a:p>
        </p:txBody>
      </p:sp>
      <p:sp>
        <p:nvSpPr>
          <p:cNvPr id="30" name="Étiquette tower defense · pull request"/>
          <p:cNvSpPr txBox="1"/>
          <p:nvPr/>
        </p:nvSpPr>
        <p:spPr>
          <a:xfrm>
            <a:off x="4157254" y="1463040"/>
            <a:ext cx="2560320" cy="274320"/>
          </a:xfrm>
          <a:prstGeom prst="rect">
            <a:avLst/>
          </a:prstGeom>
          <a:noFill/>
        </p:spPr>
        <p:txBody>
          <a:bodyPr wrap="square" lIns="0" tIns="0" rIns="0" bIns="0" anchor="t">
            <a:noAutofit/>
          </a:bodyPr>
          <a:lstStyle/>
          <a:p>
            <a:pPr algn="ctr"/>
            <a:r>
              <a:rPr sz="1200" b="0" i="0">
                <a:solidFill>
                  <a:srgbClr val="FFBD40"/>
                </a:solidFill>
                <a:latin typeface="Calibri"/>
              </a:rPr>
              <a:t>tower defense · pull request</a:t>
            </a:r>
          </a:p>
        </p:txBody>
      </p:sp>
      <p:sp>
        <p:nvSpPr>
          <p:cNvPr id="31" name="Étiquette classes-arc · Jude · 19 oct"/>
          <p:cNvSpPr txBox="1"/>
          <p:nvPr/>
        </p:nvSpPr>
        <p:spPr>
          <a:xfrm>
            <a:off x="7550592" y="1463040"/>
            <a:ext cx="2560320" cy="274320"/>
          </a:xfrm>
          <a:prstGeom prst="rect">
            <a:avLst/>
          </a:prstGeom>
          <a:noFill/>
        </p:spPr>
        <p:txBody>
          <a:bodyPr wrap="square" lIns="0" tIns="0" rIns="0" bIns="0" anchor="t">
            <a:noAutofit/>
          </a:bodyPr>
          <a:lstStyle/>
          <a:p>
            <a:pPr algn="ctr"/>
            <a:r>
              <a:rPr sz="1200" b="0" i="0">
                <a:solidFill>
                  <a:srgbClr val="F259D9"/>
                </a:solidFill>
                <a:latin typeface="Calibri"/>
              </a:rPr>
              <a:t>classes-arc · Jude · 19 oct</a:t>
            </a:r>
          </a:p>
        </p:txBody>
      </p:sp>
      <p:sp>
        <p:nvSpPr>
          <p:cNvPr id="32" name="Étiquette fork de Dovin · grenade-fleches · fusionné le 22 oct"/>
          <p:cNvSpPr txBox="1"/>
          <p:nvPr/>
        </p:nvSpPr>
        <p:spPr>
          <a:xfrm>
            <a:off x="6658922" y="3035808"/>
            <a:ext cx="4206240" cy="274320"/>
          </a:xfrm>
          <a:prstGeom prst="rect">
            <a:avLst/>
          </a:prstGeom>
          <a:noFill/>
        </p:spPr>
        <p:txBody>
          <a:bodyPr wrap="square" lIns="0" tIns="0" rIns="0" bIns="0" anchor="t">
            <a:noAutofit/>
          </a:bodyPr>
          <a:lstStyle/>
          <a:p>
            <a:pPr algn="ctr"/>
            <a:r>
              <a:rPr sz="1200" b="0" i="0">
                <a:solidFill>
                  <a:srgbClr val="66F28C"/>
                </a:solidFill>
                <a:latin typeface="Calibri"/>
              </a:rPr>
              <a:t>fork de Dovin · grenade-fleches · fusionné le 22 oct</a:t>
            </a:r>
          </a:p>
        </p:txBody>
      </p:sp>
      <p:sp>
        <p:nvSpPr>
          <p:cNvPr id="33" name="Colonne S'ORGANISER"/>
          <p:cNvSpPr txBox="1"/>
          <p:nvPr/>
        </p:nvSpPr>
        <p:spPr>
          <a:xfrm>
            <a:off x="548640" y="3886200"/>
            <a:ext cx="3611880" cy="2377440"/>
          </a:xfrm>
          <a:prstGeom prst="rect">
            <a:avLst/>
          </a:prstGeom>
          <a:noFill/>
        </p:spPr>
        <p:txBody>
          <a:bodyPr wrap="square" lIns="0" tIns="0" rIns="0" bIns="0" anchor="t">
            <a:noAutofit/>
          </a:bodyPr>
          <a:lstStyle/>
          <a:p>
            <a:pPr algn="l">
              <a:spcAft>
                <a:spcPts val="600"/>
              </a:spcAft>
            </a:pPr>
            <a:r>
              <a:rPr sz="1300" b="0" i="0" spc="200">
                <a:solidFill>
                  <a:srgbClr val="FFCC61"/>
                </a:solidFill>
                <a:latin typeface="Cinzel"/>
              </a:rPr>
              <a:t>S'ORGANISER</a:t>
            </a:r>
          </a:p>
          <a:p>
            <a:pPr marL="237744" indent="-237744" algn="l">
              <a:spcAft>
                <a:spcPts val="500"/>
              </a:spcAft>
              <a:buClr>
                <a:srgbClr val="FFCC61"/>
              </a:buClr>
              <a:buSzPct val="70000"/>
              <a:buFont typeface="Segoe UI Symbol"/>
              <a:buChar char="◆"/>
            </a:pPr>
            <a:r>
              <a:rPr sz="1500" b="0" i="0">
                <a:solidFill>
                  <a:srgbClr val="F5EDDB"/>
                </a:solidFill>
                <a:latin typeface="Calibri"/>
              </a:rPr>
              <a:t>Un dépôt GitHub ; main reste toujours jouable.</a:t>
            </a:r>
          </a:p>
          <a:p>
            <a:pPr marL="237744" indent="-237744" algn="l">
              <a:spcAft>
                <a:spcPts val="500"/>
              </a:spcAft>
              <a:buClr>
                <a:srgbClr val="FFCC61"/>
              </a:buClr>
              <a:buSzPct val="70000"/>
              <a:buFont typeface="Segoe UI Symbol"/>
              <a:buChar char="◆"/>
            </a:pPr>
            <a:r>
              <a:rPr sz="1500" b="0" i="0">
                <a:solidFill>
                  <a:srgbClr val="F5EDDB"/>
                </a:solidFill>
                <a:latin typeface="Calibri"/>
              </a:rPr>
              <a:t>Une branche par fonctionnalité, fusionnée par pull request.</a:t>
            </a:r>
          </a:p>
          <a:p>
            <a:pPr marL="237744" indent="-237744" algn="l">
              <a:spcAft>
                <a:spcPts val="500"/>
              </a:spcAft>
              <a:buClr>
                <a:srgbClr val="FFCC61"/>
              </a:buClr>
              <a:buSzPct val="70000"/>
              <a:buFont typeface="Segoe UI Symbol"/>
              <a:buChar char="◆"/>
            </a:pPr>
            <a:r>
              <a:rPr sz="1500" b="0" i="0">
                <a:solidFill>
                  <a:srgbClr val="F5EDDB"/>
                </a:solidFill>
                <a:latin typeface="Calibri"/>
              </a:rPr>
              <a:t>Le GDD, mis à jour et daté à chaque décision.</a:t>
            </a:r>
          </a:p>
        </p:txBody>
      </p:sp>
      <p:sp>
        <p:nvSpPr>
          <p:cNvPr id="34" name="Colonne TESTER"/>
          <p:cNvSpPr txBox="1"/>
          <p:nvPr/>
        </p:nvSpPr>
        <p:spPr>
          <a:xfrm>
            <a:off x="4480559" y="3886200"/>
            <a:ext cx="3611880" cy="2377440"/>
          </a:xfrm>
          <a:prstGeom prst="rect">
            <a:avLst/>
          </a:prstGeom>
          <a:noFill/>
        </p:spPr>
        <p:txBody>
          <a:bodyPr wrap="square" lIns="0" tIns="0" rIns="0" bIns="0" anchor="t">
            <a:noAutofit/>
          </a:bodyPr>
          <a:lstStyle/>
          <a:p>
            <a:pPr algn="l">
              <a:spcAft>
                <a:spcPts val="600"/>
              </a:spcAft>
            </a:pPr>
            <a:r>
              <a:rPr sz="1300" b="0" i="0" spc="200">
                <a:solidFill>
                  <a:srgbClr val="FFCC61"/>
                </a:solidFill>
                <a:latin typeface="Cinzel"/>
              </a:rPr>
              <a:t>TESTER</a:t>
            </a:r>
          </a:p>
          <a:p>
            <a:pPr marL="237744" indent="-237744" algn="l">
              <a:spcAft>
                <a:spcPts val="500"/>
              </a:spcAft>
              <a:buClr>
                <a:srgbClr val="FFCC61"/>
              </a:buClr>
              <a:buSzPct val="70000"/>
              <a:buFont typeface="Segoe UI Symbol"/>
              <a:buChar char="◆"/>
            </a:pPr>
            <a:r>
              <a:rPr sz="1500" b="0" i="0">
                <a:solidFill>
                  <a:srgbClr val="F5EDDB"/>
                </a:solidFill>
                <a:latin typeface="Calibri"/>
              </a:rPr>
              <a:t>Au casque, après chaque ajout.</a:t>
            </a:r>
          </a:p>
          <a:p>
            <a:pPr marL="237744" indent="-237744" algn="l">
              <a:spcAft>
                <a:spcPts val="500"/>
              </a:spcAft>
              <a:buClr>
                <a:srgbClr val="FFCC61"/>
              </a:buClr>
              <a:buSzPct val="70000"/>
              <a:buFont typeface="Segoe UI Symbol"/>
              <a:buChar char="◆"/>
            </a:pPr>
            <a:r>
              <a:rPr sz="1500" b="0" i="0">
                <a:solidFill>
                  <a:srgbClr val="F5EDDB"/>
                </a:solidFill>
                <a:latin typeface="Calibri"/>
              </a:rPr>
              <a:t>À la Nuit des assos, avec de vrais joueurs : vagues 3 à 5 plus dures, Facile plus doux, dragon renforcé.</a:t>
            </a:r>
          </a:p>
        </p:txBody>
      </p:sp>
      <p:pic>
        <p:nvPicPr>
          <p:cNvPr id="35" name="Fond github" descr="img057.png"/>
          <p:cNvPicPr>
            <a:picLocks noChangeAspect="1"/>
          </p:cNvPicPr>
          <p:nvPr/>
        </p:nvPicPr>
        <p:blipFill>
          <a:blip r:embed="rId4"/>
          <a:stretch>
            <a:fillRect/>
          </a:stretch>
        </p:blipFill>
        <p:spPr>
          <a:xfrm>
            <a:off x="8439911" y="3867911"/>
            <a:ext cx="3267151" cy="1893779"/>
          </a:xfrm>
          <a:prstGeom prst="rect">
            <a:avLst/>
          </a:prstGeom>
        </p:spPr>
      </p:pic>
      <p:sp>
        <p:nvSpPr>
          <p:cNvPr id="36" name="Attente github"/>
          <p:cNvSpPr txBox="1"/>
          <p:nvPr/>
        </p:nvSpPr>
        <p:spPr>
          <a:xfrm>
            <a:off x="8778240" y="3931920"/>
            <a:ext cx="2590495" cy="1765763"/>
          </a:xfrm>
          <a:prstGeom prst="rect">
            <a:avLst/>
          </a:prstGeom>
          <a:noFill/>
        </p:spPr>
        <p:txBody>
          <a:bodyPr wrap="square" lIns="0" tIns="0" rIns="0" bIns="0" anchor="ctr">
            <a:noAutofit/>
          </a:bodyPr>
          <a:lstStyle/>
          <a:p>
            <a:pPr algn="ctr">
              <a:spcAft>
                <a:spcPts val="400"/>
              </a:spcAft>
            </a:pPr>
            <a:r>
              <a:rPr sz="1100" b="0" i="0" spc="120">
                <a:solidFill>
                  <a:srgbClr val="A79FC4"/>
                </a:solidFill>
                <a:latin typeface="Cinzel"/>
              </a:rPr>
              <a:t>CAPTURE À VENIR</a:t>
            </a:r>
          </a:p>
          <a:p>
            <a:pPr algn="ctr">
              <a:spcAft>
                <a:spcPts val="200"/>
              </a:spcAft>
            </a:pPr>
            <a:r>
              <a:rPr sz="1200" b="0" i="0">
                <a:solidFill>
                  <a:srgbClr val="D1DBFF"/>
                </a:solidFill>
                <a:latin typeface="Calibri"/>
              </a:rPr>
              <a:t>captures/github.png</a:t>
            </a:r>
          </a:p>
          <a:p>
            <a:pPr algn="ctr"/>
            <a:r>
              <a:rPr sz="1200" b="0" i="0">
                <a:solidFill>
                  <a:srgbClr val="A79FC4"/>
                </a:solidFill>
                <a:latin typeface="Calibri"/>
              </a:rPr>
              <a:t>le graphe des branches sur GitHub</a:t>
            </a:r>
          </a:p>
        </p:txBody>
      </p:sp>
      <p:pic>
        <p:nvPicPr>
          <p:cNvPr id="37" name="Cadre github" descr="img058.png"/>
          <p:cNvPicPr>
            <a:picLocks noChangeAspect="1"/>
          </p:cNvPicPr>
          <p:nvPr/>
        </p:nvPicPr>
        <p:blipFill>
          <a:blip r:embed="rId5"/>
          <a:stretch>
            <a:fillRect/>
          </a:stretch>
        </p:blipFill>
        <p:spPr>
          <a:xfrm>
            <a:off x="8439911" y="3867911"/>
            <a:ext cx="3267151" cy="189377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ond" descr="img001.png"/>
          <p:cNvPicPr>
            <a:picLocks noChangeAspect="1"/>
          </p:cNvPicPr>
          <p:nvPr/>
        </p:nvPicPr>
        <p:blipFill>
          <a:blip r:embed="rId3"/>
          <a:stretch>
            <a:fillRect/>
          </a:stretch>
        </p:blipFill>
        <p:spPr>
          <a:xfrm>
            <a:off x="0" y="0"/>
            <a:ext cx="12191695" cy="6858000"/>
          </a:xfrm>
          <a:prstGeom prst="rect">
            <a:avLst/>
          </a:prstGeom>
        </p:spPr>
      </p:pic>
      <p:sp>
        <p:nvSpPr>
          <p:cNvPr id="3" name="Titre"/>
          <p:cNvSpPr txBox="1"/>
          <p:nvPr/>
        </p:nvSpPr>
        <p:spPr>
          <a:xfrm>
            <a:off x="548640" y="411480"/>
            <a:ext cx="9326880" cy="731520"/>
          </a:xfrm>
          <a:prstGeom prst="rect">
            <a:avLst/>
          </a:prstGeom>
          <a:noFill/>
        </p:spPr>
        <p:txBody>
          <a:bodyPr wrap="square" lIns="0" tIns="0" rIns="0" bIns="0" anchor="ctr">
            <a:noAutofit/>
          </a:bodyPr>
          <a:lstStyle/>
          <a:p>
            <a:pPr algn="l"/>
            <a:r>
              <a:rPr sz="3200" b="0"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inzel Decorative"/>
              </a:rPr>
              <a:t>Bilan</a:t>
            </a:r>
          </a:p>
        </p:txBody>
      </p:sp>
      <p:sp>
        <p:nvSpPr>
          <p:cNvPr id="4" name="Orateur"/>
          <p:cNvSpPr txBox="1"/>
          <p:nvPr/>
        </p:nvSpPr>
        <p:spPr>
          <a:xfrm>
            <a:off x="9509760" y="566928"/>
            <a:ext cx="2133295" cy="411480"/>
          </a:xfrm>
          <a:prstGeom prst="rect">
            <a:avLst/>
          </a:prstGeom>
          <a:noFill/>
        </p:spPr>
        <p:txBody>
          <a:bodyPr wrap="square" lIns="0" tIns="0" rIns="0" bIns="0" anchor="ctr">
            <a:noAutofit/>
          </a:bodyPr>
          <a:lstStyle/>
          <a:p>
            <a:pPr algn="r"/>
            <a:r>
              <a:rPr sz="1400" b="0" i="0" spc="250">
                <a:solidFill>
                  <a:srgbClr val="66F28C"/>
                </a:solidFill>
                <a:latin typeface="Cinzel"/>
              </a:rPr>
              <a:t>DOVIN</a:t>
            </a:r>
          </a:p>
        </p:txBody>
      </p:sp>
      <p:sp>
        <p:nvSpPr>
          <p:cNvPr id="5" name="Pied"/>
          <p:cNvSpPr txBox="1"/>
          <p:nvPr/>
        </p:nvSpPr>
        <p:spPr>
          <a:xfrm>
            <a:off x="548640" y="6400800"/>
            <a:ext cx="2743200" cy="274320"/>
          </a:xfrm>
          <a:prstGeom prst="rect">
            <a:avLst/>
          </a:prstGeom>
          <a:noFill/>
        </p:spPr>
        <p:txBody>
          <a:bodyPr wrap="square" lIns="0" tIns="0" rIns="0" bIns="0" anchor="t">
            <a:noAutofit/>
          </a:bodyPr>
          <a:lstStyle/>
          <a:p>
            <a:pPr algn="l"/>
            <a:r>
              <a:rPr sz="1000" b="0" i="0" spc="200">
                <a:solidFill>
                  <a:srgbClr val="A79FC4"/>
                </a:solidFill>
                <a:latin typeface="Cinzel"/>
              </a:rPr>
              <a:t>THUNK VR</a:t>
            </a:r>
          </a:p>
        </p:txBody>
      </p:sp>
      <p:sp>
        <p:nvSpPr>
          <p:cNvPr id="6" name="Numéro"/>
          <p:cNvSpPr txBox="1"/>
          <p:nvPr/>
        </p:nvSpPr>
        <p:spPr>
          <a:xfrm>
            <a:off x="10271455" y="6400800"/>
            <a:ext cx="1371600" cy="274320"/>
          </a:xfrm>
          <a:prstGeom prst="rect">
            <a:avLst/>
          </a:prstGeom>
          <a:noFill/>
        </p:spPr>
        <p:txBody>
          <a:bodyPr wrap="square" lIns="0" tIns="0" rIns="0" bIns="0" anchor="t">
            <a:noAutofit/>
          </a:bodyPr>
          <a:lstStyle/>
          <a:p>
            <a:pPr algn="r"/>
            <a:r>
              <a:rPr sz="1100" b="0" i="0">
                <a:solidFill>
                  <a:srgbClr val="A79FC4"/>
                </a:solidFill>
                <a:latin typeface="Calibri"/>
              </a:rPr>
              <a:t>11 / 12</a:t>
            </a:r>
          </a:p>
        </p:txBody>
      </p:sp>
      <p:pic>
        <p:nvPicPr>
          <p:cNvPr id="7" name="Chiffres" descr="img059.png"/>
          <p:cNvPicPr>
            <a:picLocks noChangeAspect="1"/>
          </p:cNvPicPr>
          <p:nvPr/>
        </p:nvPicPr>
        <p:blipFill>
          <a:blip r:embed="rId4"/>
          <a:stretch>
            <a:fillRect/>
          </a:stretch>
        </p:blipFill>
        <p:spPr>
          <a:xfrm>
            <a:off x="548640" y="1417320"/>
            <a:ext cx="4480560" cy="4709160"/>
          </a:xfrm>
          <a:prstGeom prst="rect">
            <a:avLst/>
          </a:prstGeom>
        </p:spPr>
      </p:pic>
      <p:sp>
        <p:nvSpPr>
          <p:cNvPr id="8" name="Consignes"/>
          <p:cNvSpPr txBox="1"/>
          <p:nvPr/>
        </p:nvSpPr>
        <p:spPr>
          <a:xfrm>
            <a:off x="914400" y="1783080"/>
            <a:ext cx="3749040" cy="685800"/>
          </a:xfrm>
          <a:prstGeom prst="rect">
            <a:avLst/>
          </a:prstGeom>
          <a:noFill/>
        </p:spPr>
        <p:txBody>
          <a:bodyPr wrap="square" lIns="0" tIns="0" rIns="0" bIns="0" anchor="t">
            <a:noAutofit/>
          </a:bodyPr>
          <a:lstStyle/>
          <a:p>
            <a:pPr algn="ctr">
              <a:spcAft>
                <a:spcPts val="200"/>
              </a:spcAft>
            </a:pPr>
            <a:r>
              <a:rPr sz="1300" b="0" i="0" spc="150">
                <a:solidFill>
                  <a:srgbClr val="FFCC61"/>
                </a:solidFill>
                <a:latin typeface="Cinzel"/>
              </a:rPr>
              <a:t>TOUTES LES CONSIGNES DU COURS</a:t>
            </a:r>
          </a:p>
          <a:p>
            <a:pPr algn="ctr"/>
            <a:r>
              <a:rPr sz="1500" b="0" i="0">
                <a:solidFill>
                  <a:srgbClr val="D1DBFF"/>
                </a:solidFill>
                <a:latin typeface="Calibri"/>
              </a:rPr>
              <a:t>sont dans le jeu, et en plus :</a:t>
            </a:r>
          </a:p>
        </p:txBody>
      </p:sp>
      <p:sp>
        <p:nvSpPr>
          <p:cNvPr id="9" name="Chiffre 1"/>
          <p:cNvSpPr txBox="1"/>
          <p:nvPr/>
        </p:nvSpPr>
        <p:spPr>
          <a:xfrm>
            <a:off x="822959" y="2697480"/>
            <a:ext cx="1965960" cy="1371600"/>
          </a:xfrm>
          <a:prstGeom prst="rect">
            <a:avLst/>
          </a:prstGeom>
          <a:noFill/>
        </p:spPr>
        <p:txBody>
          <a:bodyPr wrap="square" lIns="0" tIns="0" rIns="0" bIns="0" anchor="ctr">
            <a:noAutofit/>
          </a:bodyPr>
          <a:lstStyle/>
          <a:p>
            <a:pPr algn="ctr">
              <a:spcAft>
                <a:spcPts val="0"/>
              </a:spcAft>
            </a:pPr>
            <a:r>
              <a:rPr sz="4600" b="1"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ambria"/>
              </a:rPr>
              <a:t>6</a:t>
            </a:r>
          </a:p>
          <a:p>
            <a:pPr algn="ctr"/>
            <a:r>
              <a:rPr sz="1500" b="0" i="0">
                <a:solidFill>
                  <a:srgbClr val="D1DBFF"/>
                </a:solidFill>
                <a:latin typeface="Calibri"/>
              </a:rPr>
              <a:t>vagues, 5 boss et MK</a:t>
            </a:r>
          </a:p>
        </p:txBody>
      </p:sp>
      <p:sp>
        <p:nvSpPr>
          <p:cNvPr id="10" name="Chiffre 2"/>
          <p:cNvSpPr txBox="1"/>
          <p:nvPr/>
        </p:nvSpPr>
        <p:spPr>
          <a:xfrm>
            <a:off x="2788920" y="2697480"/>
            <a:ext cx="1965960" cy="1371600"/>
          </a:xfrm>
          <a:prstGeom prst="rect">
            <a:avLst/>
          </a:prstGeom>
          <a:noFill/>
        </p:spPr>
        <p:txBody>
          <a:bodyPr wrap="square" lIns="0" tIns="0" rIns="0" bIns="0" anchor="ctr">
            <a:noAutofit/>
          </a:bodyPr>
          <a:lstStyle/>
          <a:p>
            <a:pPr algn="ctr">
              <a:spcAft>
                <a:spcPts val="0"/>
              </a:spcAft>
            </a:pPr>
            <a:r>
              <a:rPr sz="4600" b="1"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ambria"/>
              </a:rPr>
              <a:t>8</a:t>
            </a:r>
          </a:p>
          <a:p>
            <a:pPr algn="ctr"/>
            <a:r>
              <a:rPr sz="1500" b="0" i="0">
                <a:solidFill>
                  <a:srgbClr val="D1DBFF"/>
                </a:solidFill>
                <a:latin typeface="Calibri"/>
              </a:rPr>
              <a:t>armes à jouer</a:t>
            </a:r>
          </a:p>
        </p:txBody>
      </p:sp>
      <p:sp>
        <p:nvSpPr>
          <p:cNvPr id="11" name="Chiffre 3"/>
          <p:cNvSpPr txBox="1"/>
          <p:nvPr/>
        </p:nvSpPr>
        <p:spPr>
          <a:xfrm>
            <a:off x="822959" y="4297680"/>
            <a:ext cx="1965960" cy="1371600"/>
          </a:xfrm>
          <a:prstGeom prst="rect">
            <a:avLst/>
          </a:prstGeom>
          <a:noFill/>
        </p:spPr>
        <p:txBody>
          <a:bodyPr wrap="square" lIns="0" tIns="0" rIns="0" bIns="0" anchor="ctr">
            <a:noAutofit/>
          </a:bodyPr>
          <a:lstStyle/>
          <a:p>
            <a:pPr algn="ctr">
              <a:spcAft>
                <a:spcPts val="0"/>
              </a:spcAft>
            </a:pPr>
            <a:r>
              <a:rPr sz="4600" b="1"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ambria"/>
              </a:rPr>
              <a:t>23</a:t>
            </a:r>
          </a:p>
          <a:p>
            <a:pPr algn="ctr"/>
            <a:r>
              <a:rPr sz="1500" b="0" i="0">
                <a:solidFill>
                  <a:srgbClr val="D1DBFF"/>
                </a:solidFill>
                <a:latin typeface="Calibri"/>
              </a:rPr>
              <a:t>améliorations</a:t>
            </a:r>
          </a:p>
        </p:txBody>
      </p:sp>
      <p:sp>
        <p:nvSpPr>
          <p:cNvPr id="12" name="Chiffre 4"/>
          <p:cNvSpPr txBox="1"/>
          <p:nvPr/>
        </p:nvSpPr>
        <p:spPr>
          <a:xfrm>
            <a:off x="2788920" y="4297680"/>
            <a:ext cx="1965960" cy="1371600"/>
          </a:xfrm>
          <a:prstGeom prst="rect">
            <a:avLst/>
          </a:prstGeom>
          <a:noFill/>
        </p:spPr>
        <p:txBody>
          <a:bodyPr wrap="square" lIns="0" tIns="0" rIns="0" bIns="0" anchor="ctr">
            <a:noAutofit/>
          </a:bodyPr>
          <a:lstStyle/>
          <a:p>
            <a:pPr algn="ctr">
              <a:spcAft>
                <a:spcPts val="0"/>
              </a:spcAft>
            </a:pPr>
            <a:r>
              <a:rPr sz="4600" b="1"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ambria"/>
              </a:rPr>
              <a:t>2</a:t>
            </a:r>
          </a:p>
          <a:p>
            <a:pPr algn="ctr"/>
            <a:r>
              <a:rPr sz="1500" b="0" i="0">
                <a:solidFill>
                  <a:srgbClr val="D1DBFF"/>
                </a:solidFill>
                <a:latin typeface="Calibri"/>
              </a:rPr>
              <a:t>secrets sur la carte</a:t>
            </a:r>
          </a:p>
        </p:txBody>
      </p:sp>
      <p:sp>
        <p:nvSpPr>
          <p:cNvPr id="13" name="Retenir et après"/>
          <p:cNvSpPr txBox="1"/>
          <p:nvPr/>
        </p:nvSpPr>
        <p:spPr>
          <a:xfrm>
            <a:off x="5486400" y="1463040"/>
            <a:ext cx="6156655" cy="4572000"/>
          </a:xfrm>
          <a:prstGeom prst="rect">
            <a:avLst/>
          </a:prstGeom>
          <a:noFill/>
        </p:spPr>
        <p:txBody>
          <a:bodyPr wrap="square" lIns="0" tIns="0" rIns="0" bIns="0" anchor="ctr">
            <a:noAutofit/>
          </a:bodyPr>
          <a:lstStyle/>
          <a:p>
            <a:pPr algn="l">
              <a:spcBef>
                <a:spcPts val="0"/>
              </a:spcBef>
              <a:spcAft>
                <a:spcPts val="600"/>
              </a:spcAft>
            </a:pPr>
            <a:r>
              <a:rPr sz="1300" b="0" i="0" spc="200">
                <a:solidFill>
                  <a:srgbClr val="FFCC61"/>
                </a:solidFill>
                <a:latin typeface="Cinzel"/>
              </a:rPr>
              <a:t>CE QU'ON RETIENT</a:t>
            </a:r>
          </a:p>
          <a:p>
            <a:pPr marL="237744" indent="-237744" algn="l">
              <a:spcAft>
                <a:spcPts val="600"/>
              </a:spcAft>
              <a:buClr>
                <a:srgbClr val="FFCC61"/>
              </a:buClr>
              <a:buSzPct val="70000"/>
              <a:buFont typeface="Segoe UI Symbol"/>
              <a:buChar char="◆"/>
            </a:pPr>
            <a:r>
              <a:rPr sz="1700" b="0" i="0">
                <a:solidFill>
                  <a:srgbClr val="F5EDDB"/>
                </a:solidFill>
                <a:latin typeface="Calibri"/>
              </a:rPr>
              <a:t>En VR, rien n'est fini tant qu'on ne l'a pas essayé au casque.</a:t>
            </a:r>
          </a:p>
          <a:p>
            <a:pPr marL="237744" indent="-237744" algn="l">
              <a:spcAft>
                <a:spcPts val="600"/>
              </a:spcAft>
              <a:buClr>
                <a:srgbClr val="FFCC61"/>
              </a:buClr>
              <a:buSzPct val="70000"/>
              <a:buFont typeface="Segoe UI Symbol"/>
              <a:buChar char="◆"/>
            </a:pPr>
            <a:r>
              <a:rPr sz="1700" b="0" i="0">
                <a:solidFill>
                  <a:srgbClr val="F5EDDB"/>
                </a:solidFill>
                <a:latin typeface="Calibri"/>
              </a:rPr>
              <a:t>Des joueurs extérieurs voient ce qu'on ne voit plus.</a:t>
            </a:r>
          </a:p>
          <a:p>
            <a:pPr marL="237744" indent="-237744" algn="l">
              <a:spcAft>
                <a:spcPts val="600"/>
              </a:spcAft>
              <a:buClr>
                <a:srgbClr val="FFCC61"/>
              </a:buClr>
              <a:buSzPct val="70000"/>
              <a:buFont typeface="Segoe UI Symbol"/>
              <a:buChar char="◆"/>
            </a:pPr>
            <a:r>
              <a:rPr sz="1700" b="0" i="0">
                <a:solidFill>
                  <a:srgbClr val="F5EDDB"/>
                </a:solidFill>
                <a:latin typeface="Calibri"/>
              </a:rPr>
              <a:t>Pousser son travail souvent : on l'a appris le 13 octobre.</a:t>
            </a:r>
          </a:p>
          <a:p>
            <a:pPr algn="l">
              <a:spcBef>
                <a:spcPts val="2200"/>
              </a:spcBef>
              <a:spcAft>
                <a:spcPts val="600"/>
              </a:spcAft>
            </a:pPr>
            <a:r>
              <a:rPr sz="1300" b="0" i="0" spc="200">
                <a:solidFill>
                  <a:srgbClr val="FFCC61"/>
                </a:solidFill>
                <a:latin typeface="Cinzel"/>
              </a:rPr>
              <a:t>ET APRÈS</a:t>
            </a:r>
          </a:p>
          <a:p>
            <a:pPr marL="237744" indent="-237744" algn="l">
              <a:spcAft>
                <a:spcPts val="600"/>
              </a:spcAft>
              <a:buClr>
                <a:srgbClr val="FFCC61"/>
              </a:buClr>
              <a:buSzPct val="70000"/>
              <a:buFont typeface="Segoe UI Symbol"/>
              <a:buChar char="◆"/>
            </a:pPr>
            <a:r>
              <a:rPr sz="1700" b="0" i="0">
                <a:solidFill>
                  <a:srgbClr val="F5EDDB"/>
                </a:solidFill>
                <a:latin typeface="Calibri"/>
              </a:rPr>
              <a:t>Une version autonome sur le Quest, sans PC.</a:t>
            </a:r>
          </a:p>
          <a:p>
            <a:pPr marL="237744" indent="-237744" algn="l">
              <a:spcAft>
                <a:spcPts val="600"/>
              </a:spcAft>
              <a:buClr>
                <a:srgbClr val="FFCC61"/>
              </a:buClr>
              <a:buSzPct val="70000"/>
              <a:buFont typeface="Segoe UI Symbol"/>
              <a:buChar char="◆"/>
            </a:pPr>
            <a:r>
              <a:rPr sz="1700" b="0" i="0">
                <a:solidFill>
                  <a:srgbClr val="F5EDDB"/>
                </a:solidFill>
                <a:latin typeface="Calibri"/>
              </a:rPr>
              <a:t>Une nouvelle arène pour MK, et une histoire cachée, d'easter egg en easter egg.</a:t>
            </a:r>
          </a:p>
          <a:p>
            <a:pPr marL="237744" indent="-237744" algn="l">
              <a:spcAft>
                <a:spcPts val="600"/>
              </a:spcAft>
              <a:buClr>
                <a:srgbClr val="FFCC61"/>
              </a:buClr>
              <a:buSzPct val="70000"/>
              <a:buFont typeface="Segoe UI Symbol"/>
              <a:buChar char="◆"/>
            </a:pPr>
            <a:r>
              <a:rPr sz="1700" b="0" i="0">
                <a:solidFill>
                  <a:srgbClr val="F5EDDB"/>
                </a:solidFill>
                <a:latin typeface="Calibri"/>
              </a:rPr>
              <a:t>De vraies musiques et de vrais sons.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Fond" descr="img001.png"/>
          <p:cNvPicPr>
            <a:picLocks noChangeAspect="1"/>
          </p:cNvPicPr>
          <p:nvPr/>
        </p:nvPicPr>
        <p:blipFill>
          <a:blip r:embed="rId3"/>
          <a:stretch>
            <a:fillRect/>
          </a:stretch>
        </p:blipFill>
        <p:spPr>
          <a:xfrm>
            <a:off x="0" y="0"/>
            <a:ext cx="12191695" cy="6858000"/>
          </a:xfrm>
          <a:prstGeom prst="rect">
            <a:avLst/>
          </a:prstGeom>
        </p:spPr>
      </p:pic>
      <p:sp>
        <p:nvSpPr>
          <p:cNvPr id="3" name="Pied"/>
          <p:cNvSpPr txBox="1"/>
          <p:nvPr/>
        </p:nvSpPr>
        <p:spPr>
          <a:xfrm>
            <a:off x="548640" y="6400800"/>
            <a:ext cx="2743200" cy="274320"/>
          </a:xfrm>
          <a:prstGeom prst="rect">
            <a:avLst/>
          </a:prstGeom>
          <a:noFill/>
        </p:spPr>
        <p:txBody>
          <a:bodyPr wrap="square" lIns="0" tIns="0" rIns="0" bIns="0" anchor="t">
            <a:noAutofit/>
          </a:bodyPr>
          <a:lstStyle/>
          <a:p>
            <a:pPr algn="l"/>
            <a:r>
              <a:rPr sz="1000" b="0" i="0" spc="200">
                <a:solidFill>
                  <a:srgbClr val="A79FC4"/>
                </a:solidFill>
                <a:latin typeface="Cinzel"/>
              </a:rPr>
              <a:t>THUNK VR</a:t>
            </a:r>
          </a:p>
        </p:txBody>
      </p:sp>
      <p:sp>
        <p:nvSpPr>
          <p:cNvPr id="4" name="Numéro"/>
          <p:cNvSpPr txBox="1"/>
          <p:nvPr/>
        </p:nvSpPr>
        <p:spPr>
          <a:xfrm>
            <a:off x="10271455" y="6400800"/>
            <a:ext cx="1371600" cy="274320"/>
          </a:xfrm>
          <a:prstGeom prst="rect">
            <a:avLst/>
          </a:prstGeom>
          <a:noFill/>
        </p:spPr>
        <p:txBody>
          <a:bodyPr wrap="square" lIns="0" tIns="0" rIns="0" bIns="0" anchor="t">
            <a:noAutofit/>
          </a:bodyPr>
          <a:lstStyle/>
          <a:p>
            <a:pPr algn="r"/>
            <a:r>
              <a:rPr sz="1100" b="0" i="0">
                <a:solidFill>
                  <a:srgbClr val="A79FC4"/>
                </a:solidFill>
                <a:latin typeface="Calibri"/>
              </a:rPr>
              <a:t>12 / 12</a:t>
            </a:r>
          </a:p>
        </p:txBody>
      </p:sp>
      <p:sp>
        <p:nvSpPr>
          <p:cNvPr id="5" name="Accroche"/>
          <p:cNvSpPr txBox="1"/>
          <p:nvPr/>
        </p:nvSpPr>
        <p:spPr>
          <a:xfrm>
            <a:off x="777240" y="1965960"/>
            <a:ext cx="7315200" cy="365760"/>
          </a:xfrm>
          <a:prstGeom prst="rect">
            <a:avLst/>
          </a:prstGeom>
          <a:noFill/>
        </p:spPr>
        <p:txBody>
          <a:bodyPr wrap="square" lIns="0" tIns="0" rIns="0" bIns="0" anchor="t">
            <a:noAutofit/>
          </a:bodyPr>
          <a:lstStyle/>
          <a:p>
            <a:pPr algn="l"/>
            <a:r>
              <a:rPr sz="1400" b="0" i="0" spc="300">
                <a:solidFill>
                  <a:srgbClr val="FFCC61"/>
                </a:solidFill>
                <a:latin typeface="Cinzel"/>
              </a:rPr>
              <a:t>PLACE AU JEU</a:t>
            </a:r>
          </a:p>
        </p:txBody>
      </p:sp>
      <p:sp>
        <p:nvSpPr>
          <p:cNvPr id="6" name="Titre démo"/>
          <p:cNvSpPr txBox="1"/>
          <p:nvPr/>
        </p:nvSpPr>
        <p:spPr>
          <a:xfrm>
            <a:off x="731520" y="2286000"/>
            <a:ext cx="8229600" cy="1188720"/>
          </a:xfrm>
          <a:prstGeom prst="rect">
            <a:avLst/>
          </a:prstGeom>
          <a:noFill/>
        </p:spPr>
        <p:txBody>
          <a:bodyPr wrap="square" lIns="0" tIns="0" rIns="0" bIns="0" anchor="ctr">
            <a:noAutofit/>
          </a:bodyPr>
          <a:lstStyle/>
          <a:p>
            <a:pPr algn="l"/>
            <a:r>
              <a:rPr sz="6600" b="0" i="0">
                <a:gradFill rotWithShape="1">
                  <a:gsLst>
                    <a:gs pos="0">
                      <a:srgbClr val="FFF5B8"/>
                    </a:gs>
                    <a:gs pos="100000">
                      <a:srgbClr val="FFA333"/>
                    </a:gs>
                  </a:gsLst>
                  <a:lin ang="5400000" scaled="0"/>
                </a:gradFill>
                <a:effectLst>
                  <a:outerShdw blurRad="38100" dist="25400" dir="5400000" algn="t" rotWithShape="0">
                    <a:srgbClr val="000000">
                      <a:alpha val="75000"/>
                    </a:srgbClr>
                  </a:outerShdw>
                </a:effectLst>
                <a:latin typeface="Cinzel Decorative"/>
              </a:rPr>
              <a:t>La démo</a:t>
            </a:r>
          </a:p>
        </p:txBody>
      </p:sp>
      <p:sp>
        <p:nvSpPr>
          <p:cNvPr id="7" name="Programme démo"/>
          <p:cNvSpPr txBox="1"/>
          <p:nvPr/>
        </p:nvSpPr>
        <p:spPr>
          <a:xfrm>
            <a:off x="777240" y="3611880"/>
            <a:ext cx="6949440" cy="1463040"/>
          </a:xfrm>
          <a:prstGeom prst="rect">
            <a:avLst/>
          </a:prstGeom>
          <a:noFill/>
        </p:spPr>
        <p:txBody>
          <a:bodyPr wrap="square" lIns="0" tIns="0" rIns="0" bIns="0" anchor="t">
            <a:noAutofit/>
          </a:bodyPr>
          <a:lstStyle/>
          <a:p>
            <a:pPr algn="l">
              <a:spcAft>
                <a:spcPts val="1400"/>
              </a:spcAft>
            </a:pPr>
            <a:r>
              <a:rPr sz="2000" b="0" i="0">
                <a:solidFill>
                  <a:srgbClr val="F5EDDB"/>
                </a:solidFill>
                <a:latin typeface="Calibri"/>
              </a:rPr>
              <a:t>Un tir parfait · une vague et son boss · construire au marteau · MK, le dragon</a:t>
            </a:r>
          </a:p>
          <a:p>
            <a:pPr algn="l"/>
            <a:r>
              <a:rPr sz="1800" b="0" i="0">
                <a:solidFill>
                  <a:srgbClr val="D1DBFF"/>
                </a:solidFill>
                <a:latin typeface="Calibri"/>
              </a:rPr>
              <a:t>Puis vos questions.</a:t>
            </a:r>
          </a:p>
        </p:txBody>
      </p:sp>
      <p:pic>
        <p:nvPicPr>
          <p:cNvPr id="8" name="Fond mk" descr="img060.png"/>
          <p:cNvPicPr>
            <a:picLocks noChangeAspect="1"/>
          </p:cNvPicPr>
          <p:nvPr/>
        </p:nvPicPr>
        <p:blipFill>
          <a:blip r:embed="rId4"/>
          <a:stretch>
            <a:fillRect/>
          </a:stretch>
        </p:blipFill>
        <p:spPr>
          <a:xfrm>
            <a:off x="7936992" y="1673351"/>
            <a:ext cx="3767328" cy="2175129"/>
          </a:xfrm>
          <a:prstGeom prst="rect">
            <a:avLst/>
          </a:prstGeom>
        </p:spPr>
      </p:pic>
      <p:sp>
        <p:nvSpPr>
          <p:cNvPr id="9" name="Attente mk"/>
          <p:cNvSpPr txBox="1"/>
          <p:nvPr/>
        </p:nvSpPr>
        <p:spPr>
          <a:xfrm>
            <a:off x="8275320" y="1737360"/>
            <a:ext cx="3090672" cy="2047113"/>
          </a:xfrm>
          <a:prstGeom prst="rect">
            <a:avLst/>
          </a:prstGeom>
          <a:noFill/>
        </p:spPr>
        <p:txBody>
          <a:bodyPr wrap="square" lIns="0" tIns="0" rIns="0" bIns="0" anchor="ctr">
            <a:noAutofit/>
          </a:bodyPr>
          <a:lstStyle/>
          <a:p>
            <a:pPr algn="ctr">
              <a:spcAft>
                <a:spcPts val="400"/>
              </a:spcAft>
            </a:pPr>
            <a:r>
              <a:rPr sz="1100" b="0" i="0" spc="120">
                <a:solidFill>
                  <a:srgbClr val="A79FC4"/>
                </a:solidFill>
                <a:latin typeface="Cinzel"/>
              </a:rPr>
              <a:t>CAPTURE À VENIR</a:t>
            </a:r>
          </a:p>
          <a:p>
            <a:pPr algn="ctr">
              <a:spcAft>
                <a:spcPts val="200"/>
              </a:spcAft>
            </a:pPr>
            <a:r>
              <a:rPr sz="1200" b="0" i="0">
                <a:solidFill>
                  <a:srgbClr val="D1DBFF"/>
                </a:solidFill>
                <a:latin typeface="Calibri"/>
              </a:rPr>
              <a:t>captures/mk.png</a:t>
            </a:r>
          </a:p>
          <a:p>
            <a:pPr algn="ctr"/>
            <a:r>
              <a:rPr sz="1200" b="0" i="0">
                <a:solidFill>
                  <a:srgbClr val="A79FC4"/>
                </a:solidFill>
                <a:latin typeface="Calibri"/>
              </a:rPr>
              <a:t>MK, le dragon, dans son antre</a:t>
            </a:r>
          </a:p>
        </p:txBody>
      </p:sp>
      <p:pic>
        <p:nvPicPr>
          <p:cNvPr id="10" name="Cadre mk" descr="img061.png"/>
          <p:cNvPicPr>
            <a:picLocks noChangeAspect="1"/>
          </p:cNvPicPr>
          <p:nvPr/>
        </p:nvPicPr>
        <p:blipFill>
          <a:blip r:embed="rId5"/>
          <a:stretch>
            <a:fillRect/>
          </a:stretch>
        </p:blipFill>
        <p:spPr>
          <a:xfrm>
            <a:off x="7936992" y="1673351"/>
            <a:ext cx="3767328" cy="217512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2910</Words>
  <Application>Microsoft Office PowerPoint</Application>
  <PresentationFormat>Grand écran</PresentationFormat>
  <Paragraphs>274</Paragraphs>
  <Slides>12</Slides>
  <Notes>12</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12</vt:i4>
      </vt:variant>
    </vt:vector>
  </HeadingPairs>
  <TitlesOfParts>
    <vt:vector size="19" baseType="lpstr">
      <vt:lpstr>Calibri</vt:lpstr>
      <vt:lpstr>Cambria</vt:lpstr>
      <vt:lpstr>Segoe UI Symbol</vt:lpstr>
      <vt:lpstr>Cinzel</vt:lpstr>
      <vt:lpstr>Arial</vt:lpstr>
      <vt:lpstr>Cinzel Decorative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THUNK VR</dc:title>
  <dc:subject/>
  <dc:creator>Antonin Croquette, Jude Aybalen, Tchoffo Manfouo Dovin Vilson, Merleau Gezo</dc:creator>
  <cp:keywords/>
  <dc:description>generated using python-pptx</dc:description>
  <cp:lastModifiedBy>Antonin CROQUETTE</cp:lastModifiedBy>
  <cp:revision>2</cp:revision>
  <dcterms:created xsi:type="dcterms:W3CDTF">2013-01-27T09:14:16Z</dcterms:created>
  <dcterms:modified xsi:type="dcterms:W3CDTF">2026-10-23T09:20:18Z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7e7dfc5-2bf4-4a75-8664-2dc4b3bb1d09_Enabled">
    <vt:lpwstr>true</vt:lpwstr>
  </property>
  <property fmtid="{D5CDD505-2E9C-101B-9397-08002B2CF9AE}" pid="3" name="MSIP_Label_47e7dfc5-2bf4-4a75-8664-2dc4b3bb1d09_SetDate">
    <vt:lpwstr>2026-10-23T09:20:18Z</vt:lpwstr>
  </property>
  <property fmtid="{D5CDD505-2E9C-101B-9397-08002B2CF9AE}" pid="4" name="MSIP_Label_47e7dfc5-2bf4-4a75-8664-2dc4b3bb1d09_Method">
    <vt:lpwstr>Standard</vt:lpwstr>
  </property>
  <property fmtid="{D5CDD505-2E9C-101B-9397-08002B2CF9AE}" pid="5" name="MSIP_Label_47e7dfc5-2bf4-4a75-8664-2dc4b3bb1d09_Name">
    <vt:lpwstr>defa4170-0d19-0005-0004-bc88714345d2</vt:lpwstr>
  </property>
  <property fmtid="{D5CDD505-2E9C-101B-9397-08002B2CF9AE}" pid="6" name="MSIP_Label_47e7dfc5-2bf4-4a75-8664-2dc4b3bb1d09_SiteId">
    <vt:lpwstr>413600cf-bd4e-4c7c-8a61-69e73cddf731</vt:lpwstr>
  </property>
  <property fmtid="{D5CDD505-2E9C-101B-9397-08002B2CF9AE}" pid="7" name="MSIP_Label_47e7dfc5-2bf4-4a75-8664-2dc4b3bb1d09_ActionId">
    <vt:lpwstr>212833b3-e177-4d98-8d81-3d35483de92f</vt:lpwstr>
  </property>
  <property fmtid="{D5CDD505-2E9C-101B-9397-08002B2CF9AE}" pid="8" name="MSIP_Label_47e7dfc5-2bf4-4a75-8664-2dc4b3bb1d09_ContentBits">
    <vt:lpwstr>0</vt:lpwstr>
  </property>
  <property fmtid="{D5CDD505-2E9C-101B-9397-08002B2CF9AE}" pid="9" name="MSIP_Label_47e7dfc5-2bf4-4a75-8664-2dc4b3bb1d09_Tag">
    <vt:lpwstr>10, 3, 0, 1</vt:lpwstr>
  </property>
</Properties>
</file>